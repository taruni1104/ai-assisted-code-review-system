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8" r:id="rId3"/>
    <p:sldId id="259" r:id="rId4"/>
    <p:sldId id="269" r:id="rId5"/>
    <p:sldId id="264" r:id="rId6"/>
    <p:sldId id="270" r:id="rId7"/>
    <p:sldId id="265" r:id="rId8"/>
    <p:sldId id="271" r:id="rId9"/>
    <p:sldId id="266" r:id="rId10"/>
    <p:sldId id="272" r:id="rId11"/>
    <p:sldId id="267" r:id="rId12"/>
    <p:sldId id="268" r:id="rId13"/>
    <p:sldId id="273" r:id="rId14"/>
    <p:sldId id="274" r:id="rId15"/>
    <p:sldId id="275" r:id="rId16"/>
    <p:sldId id="278" r:id="rId17"/>
    <p:sldId id="277" r:id="rId18"/>
    <p:sldId id="260" r:id="rId19"/>
    <p:sldId id="261" r:id="rId20"/>
    <p:sldId id="262" r:id="rId21"/>
    <p:sldId id="263"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AD61-5E19-AAAB-CFF9-3BF4C1E6BB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3CE3DC-C159-C30A-8163-0637F5E3D8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95F8E4-4DE7-1685-7272-71DFC7D4127B}"/>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5" name="Footer Placeholder 4">
            <a:extLst>
              <a:ext uri="{FF2B5EF4-FFF2-40B4-BE49-F238E27FC236}">
                <a16:creationId xmlns:a16="http://schemas.microsoft.com/office/drawing/2014/main" id="{A4327645-5F9E-A83C-3A36-AC33490D74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97E361-66E8-6FB3-2F82-98B2D711846A}"/>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3989993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8BF59-5CB7-FC47-9D4C-D65225FE7A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F52B05-1B37-2C0C-E849-967488049C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BB6CDA-7FE2-B6FB-E053-F075F7CCC426}"/>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5" name="Footer Placeholder 4">
            <a:extLst>
              <a:ext uri="{FF2B5EF4-FFF2-40B4-BE49-F238E27FC236}">
                <a16:creationId xmlns:a16="http://schemas.microsoft.com/office/drawing/2014/main" id="{E255E26D-114A-DE0C-114A-DA47C7330B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DCA04F-4783-3E28-97A8-FA20C3E9B018}"/>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3866889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6B6F-054B-1250-3A4D-891670609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32E728-9FD7-667C-8971-925A5FB16A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59B8D2-6CF5-479A-40E1-16F8BA701D65}"/>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5" name="Footer Placeholder 4">
            <a:extLst>
              <a:ext uri="{FF2B5EF4-FFF2-40B4-BE49-F238E27FC236}">
                <a16:creationId xmlns:a16="http://schemas.microsoft.com/office/drawing/2014/main" id="{AAECF87F-7B70-5629-1AFB-A3AC2F9D96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8C1963-C728-6966-F5D5-34E70E3AC4E6}"/>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842955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C0BA9-31F4-15DB-B6BF-BB4523A905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230A75-EDE0-49BB-50E8-880554223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890A28D-AAAD-D5EB-D7F5-13CFFB6513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6B77D3F-9C6A-EC90-ABD6-1B40DF48B76C}"/>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6" name="Footer Placeholder 5">
            <a:extLst>
              <a:ext uri="{FF2B5EF4-FFF2-40B4-BE49-F238E27FC236}">
                <a16:creationId xmlns:a16="http://schemas.microsoft.com/office/drawing/2014/main" id="{0AB8C279-E2D0-3B3B-B23B-DBE8AE407B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450327-D4DE-104A-16FF-D342F55D65D2}"/>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3618965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72D57-DA26-C803-11C4-E5134271AA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793AEC-4B4E-45A3-ABD1-04B3309FDB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05B522-1A18-C5F3-9A5F-DCAC1CC2A5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251521-2F09-7C23-E35F-EB19F4798E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677724-BC96-2E3F-A47B-093EB50B23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1B1C19-3B8E-58CE-83D3-18D4F99A4526}"/>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8" name="Footer Placeholder 7">
            <a:extLst>
              <a:ext uri="{FF2B5EF4-FFF2-40B4-BE49-F238E27FC236}">
                <a16:creationId xmlns:a16="http://schemas.microsoft.com/office/drawing/2014/main" id="{B4BC105D-D15F-EB8C-D751-4D39D224FF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224928-3252-0CD9-5B8C-D777627BB5EC}"/>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2467406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999E-9974-6AA0-292E-F29C9BBDB6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E5A7BC-319D-3876-2B1D-2659D2331605}"/>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4" name="Footer Placeholder 3">
            <a:extLst>
              <a:ext uri="{FF2B5EF4-FFF2-40B4-BE49-F238E27FC236}">
                <a16:creationId xmlns:a16="http://schemas.microsoft.com/office/drawing/2014/main" id="{2F6114D1-02AF-6022-9A97-635F139372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AEDC2C-2D81-115C-94E3-DE34B62BCF51}"/>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1805008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DEC7E3-F7E1-E022-A00C-633917F10BA0}"/>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3" name="Footer Placeholder 2">
            <a:extLst>
              <a:ext uri="{FF2B5EF4-FFF2-40B4-BE49-F238E27FC236}">
                <a16:creationId xmlns:a16="http://schemas.microsoft.com/office/drawing/2014/main" id="{6BECD6B4-5E9B-A57D-BFE8-13603C6D9EF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A78581-8670-C409-49DB-2B3C1DE80111}"/>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1455571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61428-4D80-A3A5-40AE-9AFDAC76BE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2B8AF7-6995-239A-6FEE-7B266562E8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4A29A29-5940-3CC8-C920-FE41068C92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20169D-91DF-AD32-2744-F4C009B0E0CB}"/>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6" name="Footer Placeholder 5">
            <a:extLst>
              <a:ext uri="{FF2B5EF4-FFF2-40B4-BE49-F238E27FC236}">
                <a16:creationId xmlns:a16="http://schemas.microsoft.com/office/drawing/2014/main" id="{052EA24D-FBD2-6989-87A3-F750BCD58D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175BB7-5272-ABBC-7C7C-5C4C640F9349}"/>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21986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6836-0EE3-54A4-5E10-7CA17BE1FA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8AD576-372D-1801-773D-A3550ED016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CB2A55-267A-ED32-4DA6-5595ECF58E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FC19D6-275E-7E2B-169C-831FFB09F224}"/>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6" name="Footer Placeholder 5">
            <a:extLst>
              <a:ext uri="{FF2B5EF4-FFF2-40B4-BE49-F238E27FC236}">
                <a16:creationId xmlns:a16="http://schemas.microsoft.com/office/drawing/2014/main" id="{D06FA197-C439-6D8C-7179-416DF821DC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3BC1BB-A654-20F3-55C6-C5ECBE41363B}"/>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844703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9127-2612-19B4-4A5F-A873339AE7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55F3F3-18FA-60A1-A177-88D1A1D872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B388AD-AB3D-8573-2286-84372B196823}"/>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5" name="Footer Placeholder 4">
            <a:extLst>
              <a:ext uri="{FF2B5EF4-FFF2-40B4-BE49-F238E27FC236}">
                <a16:creationId xmlns:a16="http://schemas.microsoft.com/office/drawing/2014/main" id="{0EF0FD40-0494-C8FE-9983-00692EFAB1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00AAF6-F22D-7F1E-680A-9E39A337FEBD}"/>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2080339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445109-DAA0-675A-3CC9-C360C649A0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7CD14D-C656-4CD6-DB37-0467FC2A50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66BC74-ADE2-632D-BE60-FD9E56F37159}"/>
              </a:ext>
            </a:extLst>
          </p:cNvPr>
          <p:cNvSpPr>
            <a:spLocks noGrp="1"/>
          </p:cNvSpPr>
          <p:nvPr>
            <p:ph type="dt" sz="half" idx="10"/>
          </p:nvPr>
        </p:nvSpPr>
        <p:spPr/>
        <p:txBody>
          <a:bodyPr/>
          <a:lstStyle/>
          <a:p>
            <a:fld id="{0FF7F1D4-1282-4680-BD3E-F4DE52780588}" type="datetimeFigureOut">
              <a:rPr lang="en-IN" smtClean="0"/>
              <a:t>26-12-2024</a:t>
            </a:fld>
            <a:endParaRPr lang="en-IN"/>
          </a:p>
        </p:txBody>
      </p:sp>
      <p:sp>
        <p:nvSpPr>
          <p:cNvPr id="5" name="Footer Placeholder 4">
            <a:extLst>
              <a:ext uri="{FF2B5EF4-FFF2-40B4-BE49-F238E27FC236}">
                <a16:creationId xmlns:a16="http://schemas.microsoft.com/office/drawing/2014/main" id="{7FC6EAFE-E8FD-4E12-151C-BAD4499E15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31AE7C-F497-2CB9-4E64-E1A4300B14DE}"/>
              </a:ext>
            </a:extLst>
          </p:cNvPr>
          <p:cNvSpPr>
            <a:spLocks noGrp="1"/>
          </p:cNvSpPr>
          <p:nvPr>
            <p:ph type="sldNum" sz="quarter" idx="12"/>
          </p:nvPr>
        </p:nvSpPr>
        <p:spPr/>
        <p:txBody>
          <a:bodyPr/>
          <a:lstStyle/>
          <a:p>
            <a:fld id="{D6C6A94B-4EBE-472F-85D8-54A5E75B739D}" type="slidenum">
              <a:rPr lang="en-IN" smtClean="0"/>
              <a:t>‹#›</a:t>
            </a:fld>
            <a:endParaRPr lang="en-IN"/>
          </a:p>
        </p:txBody>
      </p:sp>
    </p:spTree>
    <p:extLst>
      <p:ext uri="{BB962C8B-B14F-4D97-AF65-F5344CB8AC3E}">
        <p14:creationId xmlns:p14="http://schemas.microsoft.com/office/powerpoint/2010/main" val="2867305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B42720-1759-E9BF-8E11-6CCAFE0672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6935D8-B139-BF69-EC09-0F984B9614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F78577-E874-86C6-A614-D236FED6FD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7F1D4-1282-4680-BD3E-F4DE52780588}" type="datetimeFigureOut">
              <a:rPr lang="en-IN" smtClean="0"/>
              <a:t>26-12-2024</a:t>
            </a:fld>
            <a:endParaRPr lang="en-IN"/>
          </a:p>
        </p:txBody>
      </p:sp>
      <p:sp>
        <p:nvSpPr>
          <p:cNvPr id="5" name="Footer Placeholder 4">
            <a:extLst>
              <a:ext uri="{FF2B5EF4-FFF2-40B4-BE49-F238E27FC236}">
                <a16:creationId xmlns:a16="http://schemas.microsoft.com/office/drawing/2014/main" id="{1F0ED6E5-9578-1A12-F238-538D0F0635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6AB7BD-044A-5200-BFC9-588A9E4097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C6A94B-4EBE-472F-85D8-54A5E75B739D}" type="slidenum">
              <a:rPr lang="en-IN" smtClean="0"/>
              <a:t>‹#›</a:t>
            </a:fld>
            <a:endParaRPr lang="en-IN"/>
          </a:p>
        </p:txBody>
      </p:sp>
    </p:spTree>
    <p:extLst>
      <p:ext uri="{BB962C8B-B14F-4D97-AF65-F5344CB8AC3E}">
        <p14:creationId xmlns:p14="http://schemas.microsoft.com/office/powerpoint/2010/main" val="174881385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468098FF-FA3A-CA2F-3230-1DB1FDCA58F5}"/>
              </a:ext>
            </a:extLst>
          </p:cNvPr>
          <p:cNvSpPr/>
          <p:nvPr/>
        </p:nvSpPr>
        <p:spPr>
          <a:xfrm>
            <a:off x="3462198" y="375149"/>
            <a:ext cx="6227580" cy="446842"/>
          </a:xfrm>
          <a:prstGeom prst="rect">
            <a:avLst/>
          </a:prstGeom>
          <a:noFill/>
        </p:spPr>
        <p:txBody>
          <a:bodyPr wrap="none" lIns="0" tIns="0" rIns="0" bIns="0" rtlCol="0" anchor="t"/>
          <a:lstStyle/>
          <a:p>
            <a:pPr marL="0" indent="0" algn="ctr">
              <a:lnSpc>
                <a:spcPts val="3500"/>
              </a:lnSpc>
              <a:buNone/>
            </a:pPr>
            <a:r>
              <a:rPr lang="en-US" sz="3200" dirty="0">
                <a:latin typeface="Times New Roman" panose="02020603050405020304" pitchFamily="18" charset="0"/>
                <a:ea typeface="Epilogue" pitchFamily="34" charset="-122"/>
                <a:cs typeface="Times New Roman" panose="02020603050405020304" pitchFamily="18" charset="0"/>
              </a:rPr>
              <a:t>RAGHU INSTITUTE OF TECHNOLOGY</a:t>
            </a:r>
          </a:p>
          <a:p>
            <a:pPr marL="0" indent="0" algn="ctr">
              <a:lnSpc>
                <a:spcPts val="3500"/>
              </a:lnSpc>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(Autonomous)</a:t>
            </a:r>
            <a:endParaRPr lang="en-US" sz="3200" dirty="0">
              <a:latin typeface="Times New Roman" panose="02020603050405020304" pitchFamily="18" charset="0"/>
              <a:ea typeface="Epilogue" pitchFamily="34" charset="-122"/>
              <a:cs typeface="Times New Roman" panose="02020603050405020304" pitchFamily="18" charset="0"/>
            </a:endParaRPr>
          </a:p>
        </p:txBody>
      </p:sp>
      <p:sp>
        <p:nvSpPr>
          <p:cNvPr id="6" name="TextBox 5">
            <a:extLst>
              <a:ext uri="{FF2B5EF4-FFF2-40B4-BE49-F238E27FC236}">
                <a16:creationId xmlns:a16="http://schemas.microsoft.com/office/drawing/2014/main" id="{689C1167-9CA8-36AC-694D-287C6C8B4E6B}"/>
              </a:ext>
            </a:extLst>
          </p:cNvPr>
          <p:cNvSpPr txBox="1"/>
          <p:nvPr/>
        </p:nvSpPr>
        <p:spPr>
          <a:xfrm>
            <a:off x="3040167" y="1226874"/>
            <a:ext cx="6807218" cy="635943"/>
          </a:xfrm>
          <a:prstGeom prst="rect">
            <a:avLst/>
          </a:prstGeom>
          <a:noFill/>
        </p:spPr>
        <p:txBody>
          <a:bodyPr wrap="square">
            <a:spAutoFit/>
          </a:bodyPr>
          <a:lstStyle/>
          <a:p>
            <a:pPr algn="ctr">
              <a:lnSpc>
                <a:spcPct val="115000"/>
              </a:lnSpc>
            </a:pPr>
            <a:r>
              <a:rPr lang="en-US" sz="1600" b="1" i="1" dirty="0">
                <a:effectLst/>
                <a:latin typeface="Times New Roman" panose="02020603050405020304" pitchFamily="18" charset="0"/>
                <a:ea typeface="Times New Roman" panose="02020603050405020304" pitchFamily="18" charset="0"/>
                <a:cs typeface="Times New Roman" panose="02020603050405020304" pitchFamily="18" charset="0"/>
              </a:rPr>
              <a:t>(Approved by AICTE, New Delhi, Accredited by NBA &amp; Re Accredited by </a:t>
            </a:r>
            <a:endParaRPr lang="en-IN" sz="12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15000"/>
              </a:lnSpc>
            </a:pPr>
            <a:r>
              <a:rPr lang="en-US" sz="1600" b="1" i="1" dirty="0">
                <a:effectLst/>
                <a:latin typeface="Times New Roman" panose="02020603050405020304" pitchFamily="18" charset="0"/>
                <a:ea typeface="Times New Roman" panose="02020603050405020304" pitchFamily="18" charset="0"/>
                <a:cs typeface="Times New Roman" panose="02020603050405020304" pitchFamily="18" charset="0"/>
              </a:rPr>
              <a:t>NAAC with ‘A+’ grade &amp; Permanently Affiliated to JNTU-GV Vizianagaram) </a:t>
            </a:r>
            <a:endParaRPr lang="en-IN" sz="1200" i="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Image 0" descr="preencoded.png">
            <a:extLst>
              <a:ext uri="{FF2B5EF4-FFF2-40B4-BE49-F238E27FC236}">
                <a16:creationId xmlns:a16="http://schemas.microsoft.com/office/drawing/2014/main" id="{9560CDE2-7E19-62ED-8DC9-C35FCF1FB207}"/>
              </a:ext>
            </a:extLst>
          </p:cNvPr>
          <p:cNvPicPr>
            <a:picLocks noChangeAspect="1"/>
          </p:cNvPicPr>
          <p:nvPr/>
        </p:nvPicPr>
        <p:blipFill>
          <a:blip r:embed="rId2"/>
          <a:stretch>
            <a:fillRect/>
          </a:stretch>
        </p:blipFill>
        <p:spPr>
          <a:xfrm>
            <a:off x="1233428" y="540872"/>
            <a:ext cx="1356035" cy="1250870"/>
          </a:xfrm>
          <a:prstGeom prst="rect">
            <a:avLst/>
          </a:prstGeom>
        </p:spPr>
      </p:pic>
      <p:sp>
        <p:nvSpPr>
          <p:cNvPr id="9" name="TextBox 8">
            <a:extLst>
              <a:ext uri="{FF2B5EF4-FFF2-40B4-BE49-F238E27FC236}">
                <a16:creationId xmlns:a16="http://schemas.microsoft.com/office/drawing/2014/main" id="{7133845B-8EAB-059E-E38B-6A8BE1A17F4E}"/>
              </a:ext>
            </a:extLst>
          </p:cNvPr>
          <p:cNvSpPr txBox="1"/>
          <p:nvPr/>
        </p:nvSpPr>
        <p:spPr>
          <a:xfrm>
            <a:off x="1416440" y="2446087"/>
            <a:ext cx="9359120" cy="1569660"/>
          </a:xfrm>
          <a:prstGeom prst="rect">
            <a:avLst/>
          </a:prstGeom>
          <a:noFill/>
          <a:ln>
            <a:solidFill>
              <a:schemeClr val="tx1"/>
            </a:solidFill>
          </a:ln>
        </p:spPr>
        <p:txBody>
          <a:bodyPr wrap="square">
            <a:spAutoFit/>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CODE REVIEW SYSTEM USING Generative AI</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72D562D-B3B7-51D2-730E-C58119E2EDF4}"/>
              </a:ext>
            </a:extLst>
          </p:cNvPr>
          <p:cNvSpPr txBox="1"/>
          <p:nvPr/>
        </p:nvSpPr>
        <p:spPr>
          <a:xfrm>
            <a:off x="1233428" y="4543859"/>
            <a:ext cx="3613478" cy="107721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Under the esteemed guidance of</a:t>
            </a:r>
          </a:p>
          <a:p>
            <a:r>
              <a:rPr lang="en-IN" sz="2200" dirty="0" err="1">
                <a:solidFill>
                  <a:schemeClr val="accent1">
                    <a:lumMod val="50000"/>
                  </a:schemeClr>
                </a:solidFill>
                <a:latin typeface="Times New Roman" panose="02020603050405020304" pitchFamily="18" charset="0"/>
                <a:cs typeface="Times New Roman" panose="02020603050405020304" pitchFamily="18" charset="0"/>
              </a:rPr>
              <a:t>Dr.</a:t>
            </a:r>
            <a:r>
              <a:rPr lang="en-IN" sz="2200" dirty="0">
                <a:solidFill>
                  <a:schemeClr val="accent1">
                    <a:lumMod val="50000"/>
                  </a:schemeClr>
                </a:solidFill>
                <a:latin typeface="Times New Roman" panose="02020603050405020304" pitchFamily="18" charset="0"/>
                <a:cs typeface="Times New Roman" panose="02020603050405020304" pitchFamily="18" charset="0"/>
              </a:rPr>
              <a:t> P. APPALA NAIDU</a:t>
            </a:r>
          </a:p>
          <a:p>
            <a:r>
              <a:rPr lang="en-IN" sz="2000" dirty="0">
                <a:latin typeface="Times New Roman" panose="02020603050405020304" pitchFamily="18" charset="0"/>
                <a:cs typeface="Times New Roman" panose="02020603050405020304" pitchFamily="18" charset="0"/>
              </a:rPr>
              <a:t>(Professor &amp; </a:t>
            </a:r>
            <a:r>
              <a:rPr lang="en-IN" sz="2000" dirty="0" err="1">
                <a:latin typeface="Times New Roman" panose="02020603050405020304" pitchFamily="18" charset="0"/>
                <a:cs typeface="Times New Roman" panose="02020603050405020304" pitchFamily="18" charset="0"/>
              </a:rPr>
              <a:t>HoD</a:t>
            </a:r>
            <a:r>
              <a:rPr lang="en-IN" sz="2000" dirty="0">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402D2B04-8D42-3090-BD3C-78280F55A7E6}"/>
              </a:ext>
            </a:extLst>
          </p:cNvPr>
          <p:cNvSpPr txBox="1"/>
          <p:nvPr/>
        </p:nvSpPr>
        <p:spPr>
          <a:xfrm>
            <a:off x="6812935" y="4543859"/>
            <a:ext cx="4656406" cy="193899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Presented by:</a:t>
            </a:r>
          </a:p>
          <a:p>
            <a:r>
              <a:rPr lang="en-US" sz="2000" dirty="0">
                <a:solidFill>
                  <a:schemeClr val="accent1">
                    <a:lumMod val="50000"/>
                  </a:schemeClr>
                </a:solidFill>
                <a:latin typeface="Times New Roman" panose="02020603050405020304" pitchFamily="18" charset="0"/>
                <a:cs typeface="Times New Roman" panose="02020603050405020304" pitchFamily="18" charset="0"/>
              </a:rPr>
              <a:t>      H. PRAVALIKA(213J1A0565)</a:t>
            </a:r>
          </a:p>
          <a:p>
            <a:r>
              <a:rPr lang="en-US" sz="2000" dirty="0">
                <a:solidFill>
                  <a:schemeClr val="accent1">
                    <a:lumMod val="50000"/>
                  </a:schemeClr>
                </a:solidFill>
                <a:latin typeface="Times New Roman" panose="02020603050405020304" pitchFamily="18" charset="0"/>
                <a:cs typeface="Times New Roman" panose="02020603050405020304" pitchFamily="18" charset="0"/>
              </a:rPr>
              <a:t>      G. SUNIL KUMAR(213J1A0551)</a:t>
            </a:r>
          </a:p>
          <a:p>
            <a:r>
              <a:rPr lang="en-US" sz="2000" dirty="0">
                <a:solidFill>
                  <a:schemeClr val="accent1">
                    <a:lumMod val="50000"/>
                  </a:schemeClr>
                </a:solidFill>
                <a:latin typeface="Times New Roman" panose="02020603050405020304" pitchFamily="18" charset="0"/>
                <a:cs typeface="Times New Roman" panose="02020603050405020304" pitchFamily="18" charset="0"/>
              </a:rPr>
              <a:t>      A. TARUNI(213J1A0501)</a:t>
            </a:r>
          </a:p>
          <a:p>
            <a:r>
              <a:rPr lang="en-US" sz="2000" dirty="0">
                <a:solidFill>
                  <a:schemeClr val="accent1">
                    <a:lumMod val="50000"/>
                  </a:schemeClr>
                </a:solidFill>
                <a:latin typeface="Times New Roman" panose="02020603050405020304" pitchFamily="18" charset="0"/>
                <a:cs typeface="Times New Roman" panose="02020603050405020304" pitchFamily="18" charset="0"/>
              </a:rPr>
              <a:t>      G. PRENITH SAI(213J1A0563)</a:t>
            </a:r>
            <a:endParaRPr lang="en-IN" sz="2000" dirty="0">
              <a:solidFill>
                <a:schemeClr val="accent1">
                  <a:lumMod val="50000"/>
                </a:schemeClr>
              </a:solidFill>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9690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2C9F141-A4EF-D5D7-8CD1-460B25C2970F}"/>
              </a:ext>
            </a:extLst>
          </p:cNvPr>
          <p:cNvSpPr txBox="1"/>
          <p:nvPr/>
        </p:nvSpPr>
        <p:spPr>
          <a:xfrm>
            <a:off x="1467729" y="1669763"/>
            <a:ext cx="9256541" cy="409342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An AI Assisted Code Review System is an innovative solution designed to automate and enhance the software code review process using generative AI. It employs specialized agents to handle critical aspects of code analysis, including syntax validation, security vulnerability detection, performance optimization, and adherence to coding best practices.</a:t>
            </a:r>
          </a:p>
          <a:p>
            <a:pPr algn="just"/>
            <a:r>
              <a:rPr lang="en-US" sz="2000" dirty="0">
                <a:latin typeface="Times New Roman" panose="02020603050405020304" pitchFamily="18" charset="0"/>
                <a:cs typeface="Times New Roman" panose="02020603050405020304" pitchFamily="18" charset="0"/>
              </a:rPr>
              <a:t>Built on OpenAI’s GPT models, the system leverages Celery for distributed task orchestration, enabling asynchronous and efficient processing. </a:t>
            </a:r>
            <a:r>
              <a:rPr lang="en-US" sz="2000" dirty="0" err="1">
                <a:latin typeface="Times New Roman" panose="02020603050405020304" pitchFamily="18" charset="0"/>
                <a:cs typeface="Times New Roman" panose="02020603050405020304" pitchFamily="18" charset="0"/>
              </a:rPr>
              <a:t>FastAPI</a:t>
            </a:r>
            <a:r>
              <a:rPr lang="en-US" sz="2000" dirty="0">
                <a:latin typeface="Times New Roman" panose="02020603050405020304" pitchFamily="18" charset="0"/>
                <a:cs typeface="Times New Roman" panose="02020603050405020304" pitchFamily="18" charset="0"/>
              </a:rPr>
              <a:t> serves as the interface for seamless API integration, while Docker ensures scalability and ease of deployment.</a:t>
            </a:r>
          </a:p>
          <a:p>
            <a:pPr algn="just"/>
            <a:r>
              <a:rPr lang="en-US" sz="2000" dirty="0">
                <a:latin typeface="Times New Roman" panose="02020603050405020304" pitchFamily="18" charset="0"/>
                <a:cs typeface="Times New Roman" panose="02020603050405020304" pitchFamily="18" charset="0"/>
              </a:rPr>
              <a:t>By delivering detailed and actionable feedback, this system reduces the need for manual code reviews, accelerates development cycles, and improves overall code quality. It offers a robust, scalable, and developer-friendly approach to modernizing software development workflows.</a:t>
            </a:r>
          </a:p>
        </p:txBody>
      </p:sp>
      <p:sp>
        <p:nvSpPr>
          <p:cNvPr id="10" name="TextBox 9">
            <a:extLst>
              <a:ext uri="{FF2B5EF4-FFF2-40B4-BE49-F238E27FC236}">
                <a16:creationId xmlns:a16="http://schemas.microsoft.com/office/drawing/2014/main" id="{6D7CF83C-9B1A-B128-E41D-4E2EA7BD93B2}"/>
              </a:ext>
            </a:extLst>
          </p:cNvPr>
          <p:cNvSpPr txBox="1"/>
          <p:nvPr/>
        </p:nvSpPr>
        <p:spPr>
          <a:xfrm>
            <a:off x="4645853" y="534572"/>
            <a:ext cx="2900291"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ABSTRACT</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9887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FCDA18-8C19-BB98-ACF4-42F23F3EC475}"/>
              </a:ext>
            </a:extLst>
          </p:cNvPr>
          <p:cNvSpPr txBox="1"/>
          <p:nvPr/>
        </p:nvSpPr>
        <p:spPr>
          <a:xfrm>
            <a:off x="4356295" y="90344"/>
            <a:ext cx="3479409" cy="646331"/>
          </a:xfrm>
          <a:prstGeom prst="rect">
            <a:avLst/>
          </a:prstGeom>
          <a:noFill/>
        </p:spPr>
        <p:txBody>
          <a:bodyPr wrap="square" rtlCol="0">
            <a:spAutoFit/>
          </a:bodyPr>
          <a:lstStyle/>
          <a:p>
            <a:r>
              <a:rPr lang="en-US" sz="3600" u="sng" dirty="0">
                <a:latin typeface="Times New Roman" panose="02020603050405020304" pitchFamily="18" charset="0"/>
                <a:cs typeface="Times New Roman" panose="02020603050405020304" pitchFamily="18" charset="0"/>
              </a:rPr>
              <a:t>Literature Survey</a:t>
            </a:r>
            <a:endParaRPr lang="en-IN" sz="3600"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8942093-3509-C9FA-DAD7-468F9043896C}"/>
              </a:ext>
            </a:extLst>
          </p:cNvPr>
          <p:cNvSpPr txBox="1"/>
          <p:nvPr/>
        </p:nvSpPr>
        <p:spPr>
          <a:xfrm>
            <a:off x="1374233" y="975551"/>
            <a:ext cx="9443527" cy="461665"/>
          </a:xfrm>
          <a:prstGeom prst="rect">
            <a:avLst/>
          </a:prstGeom>
          <a:noFill/>
          <a:ln>
            <a:solidFill>
              <a:schemeClr val="tx1"/>
            </a:solidFill>
          </a:ln>
        </p:spPr>
        <p:txBody>
          <a:bodyPr wrap="square">
            <a:spAutoFit/>
          </a:bodyPr>
          <a:lstStyle/>
          <a:p>
            <a:pPr algn="ctr"/>
            <a:r>
              <a:rPr lang="en-US" sz="2400" dirty="0">
                <a:latin typeface="Times New Roman" panose="02020603050405020304" pitchFamily="18" charset="0"/>
                <a:cs typeface="Times New Roman" panose="02020603050405020304" pitchFamily="18" charset="0"/>
              </a:rPr>
              <a:t>AI Code Review: Advancing code quality with AI-enhanced reviews</a:t>
            </a:r>
            <a:endParaRPr lang="en-IN" sz="24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79D0B614-4992-90D5-1ACF-2683E9D4CBC9}"/>
              </a:ext>
            </a:extLst>
          </p:cNvPr>
          <p:cNvGraphicFramePr>
            <a:graphicFrameLocks noGrp="1"/>
          </p:cNvGraphicFramePr>
          <p:nvPr>
            <p:extLst>
              <p:ext uri="{D42A27DB-BD31-4B8C-83A1-F6EECF244321}">
                <p14:modId xmlns:p14="http://schemas.microsoft.com/office/powerpoint/2010/main" val="3133484152"/>
              </p:ext>
            </p:extLst>
          </p:nvPr>
        </p:nvGraphicFramePr>
        <p:xfrm>
          <a:off x="897984" y="2116086"/>
          <a:ext cx="10396024" cy="4306731"/>
        </p:xfrm>
        <a:graphic>
          <a:graphicData uri="http://schemas.openxmlformats.org/drawingml/2006/table">
            <a:tbl>
              <a:tblPr firstRow="1" bandRow="1">
                <a:tableStyleId>{5DA37D80-6434-44D0-A028-1B22A696006F}</a:tableStyleId>
              </a:tblPr>
              <a:tblGrid>
                <a:gridCol w="2599006">
                  <a:extLst>
                    <a:ext uri="{9D8B030D-6E8A-4147-A177-3AD203B41FA5}">
                      <a16:colId xmlns:a16="http://schemas.microsoft.com/office/drawing/2014/main" val="1447117368"/>
                    </a:ext>
                  </a:extLst>
                </a:gridCol>
                <a:gridCol w="2599006">
                  <a:extLst>
                    <a:ext uri="{9D8B030D-6E8A-4147-A177-3AD203B41FA5}">
                      <a16:colId xmlns:a16="http://schemas.microsoft.com/office/drawing/2014/main" val="3370291502"/>
                    </a:ext>
                  </a:extLst>
                </a:gridCol>
                <a:gridCol w="2935914">
                  <a:extLst>
                    <a:ext uri="{9D8B030D-6E8A-4147-A177-3AD203B41FA5}">
                      <a16:colId xmlns:a16="http://schemas.microsoft.com/office/drawing/2014/main" val="4199698629"/>
                    </a:ext>
                  </a:extLst>
                </a:gridCol>
                <a:gridCol w="2262098">
                  <a:extLst>
                    <a:ext uri="{9D8B030D-6E8A-4147-A177-3AD203B41FA5}">
                      <a16:colId xmlns:a16="http://schemas.microsoft.com/office/drawing/2014/main" val="2895430099"/>
                    </a:ext>
                  </a:extLst>
                </a:gridCol>
              </a:tblGrid>
              <a:tr h="408423">
                <a:tc>
                  <a:txBody>
                    <a:bodyPr/>
                    <a:lstStyle/>
                    <a:p>
                      <a:pPr algn="ctr"/>
                      <a:r>
                        <a:rPr lang="en-US" sz="2200" dirty="0">
                          <a:latin typeface="Times New Roman" panose="02020603050405020304" pitchFamily="18" charset="0"/>
                          <a:cs typeface="Times New Roman" panose="02020603050405020304" pitchFamily="18" charset="0"/>
                        </a:rPr>
                        <a:t>Algorithms Used</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Working</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Drawback</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Datasets Used</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8458557"/>
                  </a:ext>
                </a:extLst>
              </a:tr>
              <a:tr h="3880011">
                <a:tc>
                  <a:txBody>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GPT-3.5-based NLP engine.</a:t>
                      </a:r>
                    </a:p>
                    <a:p>
                      <a:pPr marL="457200" indent="-457200">
                        <a:buAutoNum type="arabicPeriod"/>
                      </a:pPr>
                      <a:r>
                        <a:rPr lang="en-US" sz="2000" dirty="0">
                          <a:latin typeface="Times New Roman" panose="02020603050405020304" pitchFamily="18" charset="0"/>
                          <a:cs typeface="Times New Roman" panose="02020603050405020304" pitchFamily="18" charset="0"/>
                        </a:rPr>
                        <a:t>Neural networks for syntax and semantic analysis..</a:t>
                      </a:r>
                    </a:p>
                  </a:txBody>
                  <a:tcPr/>
                </a:tc>
                <a:tc>
                  <a:txBody>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Code snippets are parsed for syntax/semantic discrepancies.</a:t>
                      </a:r>
                    </a:p>
                    <a:p>
                      <a:pPr marL="457200" indent="-457200">
                        <a:buAutoNum type="arabicPeriod"/>
                      </a:pPr>
                      <a:r>
                        <a:rPr lang="en-US" sz="2000" dirty="0">
                          <a:latin typeface="Times New Roman" panose="02020603050405020304" pitchFamily="18" charset="0"/>
                          <a:cs typeface="Times New Roman" panose="02020603050405020304" pitchFamily="18" charset="0"/>
                        </a:rPr>
                        <a:t>Suggestions are generated using a pre-trained language model.</a:t>
                      </a:r>
                    </a:p>
                    <a:p>
                      <a:pPr marL="457200" indent="-457200">
                        <a:buAutoNum type="arabicPeriod"/>
                      </a:pPr>
                      <a:r>
                        <a:rPr lang="en-US" sz="2000" dirty="0">
                          <a:latin typeface="Times New Roman" panose="02020603050405020304" pitchFamily="18" charset="0"/>
                          <a:cs typeface="Times New Roman" panose="02020603050405020304" pitchFamily="18" charset="0"/>
                        </a:rPr>
                        <a:t>Focused on integrating with IntelliJ IDEA for real-time analysis.</a:t>
                      </a:r>
                      <a:endParaRPr lang="en-IN" sz="2000" dirty="0">
                        <a:latin typeface="Times New Roman" panose="02020603050405020304" pitchFamily="18" charset="0"/>
                        <a:cs typeface="Times New Roman" panose="02020603050405020304" pitchFamily="18" charset="0"/>
                      </a:endParaRPr>
                    </a:p>
                  </a:txBody>
                  <a:tcPr/>
                </a:tc>
                <a:tc>
                  <a:txBody>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Reliance on GPT-3.5 limits domain-specific accuracy.</a:t>
                      </a:r>
                    </a:p>
                    <a:p>
                      <a:pPr marL="457200" indent="-457200">
                        <a:buAutoNum type="arabicPeriod"/>
                      </a:pPr>
                      <a:r>
                        <a:rPr lang="en-US" sz="2000" dirty="0">
                          <a:latin typeface="Times New Roman" panose="02020603050405020304" pitchFamily="18" charset="0"/>
                          <a:cs typeface="Times New Roman" panose="02020603050405020304" pitchFamily="18" charset="0"/>
                        </a:rPr>
                        <a:t>Limited support for programming languages other than those explicitly configured.</a:t>
                      </a:r>
                    </a:p>
                    <a:p>
                      <a:pPr marL="457200" indent="-457200">
                        <a:buAutoNum type="arabicPeriod"/>
                      </a:pPr>
                      <a:r>
                        <a:rPr lang="en-US" sz="2000" dirty="0">
                          <a:latin typeface="Times New Roman" panose="02020603050405020304" pitchFamily="18" charset="0"/>
                          <a:cs typeface="Times New Roman" panose="02020603050405020304" pitchFamily="18" charset="0"/>
                        </a:rPr>
                        <a:t>Potential overfitting due to fine-tuning on specific datasets.</a:t>
                      </a:r>
                    </a:p>
                  </a:txBody>
                  <a:tcPr/>
                </a:tc>
                <a:tc>
                  <a:txBody>
                    <a:bodyPr/>
                    <a:lstStyle/>
                    <a:p>
                      <a:pPr marL="457200" indent="-457200">
                        <a:buAutoNum type="arabicPeriod"/>
                      </a:pPr>
                      <a:r>
                        <a:rPr lang="en-IN" sz="2000" dirty="0">
                          <a:latin typeface="Times New Roman" panose="02020603050405020304" pitchFamily="18" charset="0"/>
                          <a:cs typeface="Times New Roman" panose="02020603050405020304" pitchFamily="18" charset="0"/>
                        </a:rPr>
                        <a:t>Code repositories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via IntelliJ IDEA plugin, leveraging GPT-3.5 for assessment.</a:t>
                      </a:r>
                    </a:p>
                  </a:txBody>
                  <a:tcPr/>
                </a:tc>
                <a:extLst>
                  <a:ext uri="{0D108BD9-81ED-4DB2-BD59-A6C34878D82A}">
                    <a16:rowId xmlns:a16="http://schemas.microsoft.com/office/drawing/2014/main" val="3781373210"/>
                  </a:ext>
                </a:extLst>
              </a:tr>
            </a:tbl>
          </a:graphicData>
        </a:graphic>
      </p:graphicFrame>
      <p:sp>
        <p:nvSpPr>
          <p:cNvPr id="7" name="TextBox 6">
            <a:extLst>
              <a:ext uri="{FF2B5EF4-FFF2-40B4-BE49-F238E27FC236}">
                <a16:creationId xmlns:a16="http://schemas.microsoft.com/office/drawing/2014/main" id="{F59A70FA-A4D1-B1A3-494A-173264288EAF}"/>
              </a:ext>
            </a:extLst>
          </p:cNvPr>
          <p:cNvSpPr txBox="1"/>
          <p:nvPr/>
        </p:nvSpPr>
        <p:spPr>
          <a:xfrm>
            <a:off x="2743199" y="1591985"/>
            <a:ext cx="775100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Link: https://www.sciencedirect.com/science/article/pii/S2352711024000487</a:t>
            </a:r>
          </a:p>
        </p:txBody>
      </p:sp>
    </p:spTree>
    <p:extLst>
      <p:ext uri="{BB962C8B-B14F-4D97-AF65-F5344CB8AC3E}">
        <p14:creationId xmlns:p14="http://schemas.microsoft.com/office/powerpoint/2010/main" val="1383836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A02CFC-5779-371F-F126-B88CFC319D97}"/>
              </a:ext>
            </a:extLst>
          </p:cNvPr>
          <p:cNvPicPr>
            <a:picLocks noChangeAspect="1"/>
          </p:cNvPicPr>
          <p:nvPr/>
        </p:nvPicPr>
        <p:blipFill>
          <a:blip r:embed="rId2"/>
          <a:stretch>
            <a:fillRect/>
          </a:stretch>
        </p:blipFill>
        <p:spPr>
          <a:xfrm>
            <a:off x="2433710" y="1058594"/>
            <a:ext cx="6935372" cy="4740812"/>
          </a:xfrm>
          <a:prstGeom prst="rect">
            <a:avLst/>
          </a:prstGeom>
        </p:spPr>
      </p:pic>
      <p:sp>
        <p:nvSpPr>
          <p:cNvPr id="4" name="TextBox 3">
            <a:extLst>
              <a:ext uri="{FF2B5EF4-FFF2-40B4-BE49-F238E27FC236}">
                <a16:creationId xmlns:a16="http://schemas.microsoft.com/office/drawing/2014/main" id="{8E338270-2C8D-C7C7-3A91-3B4B946642FA}"/>
              </a:ext>
            </a:extLst>
          </p:cNvPr>
          <p:cNvSpPr txBox="1"/>
          <p:nvPr/>
        </p:nvSpPr>
        <p:spPr>
          <a:xfrm>
            <a:off x="4339883" y="254503"/>
            <a:ext cx="3123027"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Architecture Diagram</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5A09B6E-F5FF-41E9-F8D3-00FB12584C62}"/>
              </a:ext>
            </a:extLst>
          </p:cNvPr>
          <p:cNvSpPr txBox="1"/>
          <p:nvPr/>
        </p:nvSpPr>
        <p:spPr>
          <a:xfrm>
            <a:off x="4564965" y="5957166"/>
            <a:ext cx="267286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Fig-1: </a:t>
            </a:r>
            <a:r>
              <a:rPr lang="en-US" sz="1800" dirty="0">
                <a:latin typeface="Times New Roman" panose="02020603050405020304" pitchFamily="18" charset="0"/>
                <a:cs typeface="Times New Roman" panose="02020603050405020304" pitchFamily="18" charset="0"/>
              </a:rPr>
              <a:t>AI Code Review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28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8043DA-AFD3-EDC8-BA58-0EB5D94F884F}"/>
              </a:ext>
            </a:extLst>
          </p:cNvPr>
          <p:cNvSpPr txBox="1"/>
          <p:nvPr/>
        </p:nvSpPr>
        <p:spPr>
          <a:xfrm>
            <a:off x="1693105" y="497617"/>
            <a:ext cx="8805790" cy="461665"/>
          </a:xfrm>
          <a:prstGeom prst="rect">
            <a:avLst/>
          </a:prstGeom>
          <a:noFill/>
          <a:ln>
            <a:solidFill>
              <a:schemeClr val="tx1"/>
            </a:solidFill>
          </a:ln>
        </p:spPr>
        <p:txBody>
          <a:bodyPr wrap="square">
            <a:spAutoFit/>
          </a:bodyPr>
          <a:lstStyle/>
          <a:p>
            <a:pPr algn="ctr"/>
            <a:r>
              <a:rPr lang="en-US" sz="2400" dirty="0">
                <a:latin typeface="Times New Roman" panose="02020603050405020304" pitchFamily="18" charset="0"/>
                <a:cs typeface="Times New Roman" panose="02020603050405020304" pitchFamily="18" charset="0"/>
              </a:rPr>
              <a:t>Enhancing Software Quality through AI - Assisted Code Review</a:t>
            </a:r>
            <a:endParaRPr lang="en-IN" sz="2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19CE162-21B6-399D-502B-60AEE22CDBBF}"/>
              </a:ext>
            </a:extLst>
          </p:cNvPr>
          <p:cNvGraphicFramePr>
            <a:graphicFrameLocks noGrp="1"/>
          </p:cNvGraphicFramePr>
          <p:nvPr>
            <p:extLst>
              <p:ext uri="{D42A27DB-BD31-4B8C-83A1-F6EECF244321}">
                <p14:modId xmlns:p14="http://schemas.microsoft.com/office/powerpoint/2010/main" val="1246753761"/>
              </p:ext>
            </p:extLst>
          </p:nvPr>
        </p:nvGraphicFramePr>
        <p:xfrm>
          <a:off x="897988" y="2053652"/>
          <a:ext cx="10396024" cy="4306731"/>
        </p:xfrm>
        <a:graphic>
          <a:graphicData uri="http://schemas.openxmlformats.org/drawingml/2006/table">
            <a:tbl>
              <a:tblPr firstRow="1" bandRow="1">
                <a:tableStyleId>{5DA37D80-6434-44D0-A028-1B22A696006F}</a:tableStyleId>
              </a:tblPr>
              <a:tblGrid>
                <a:gridCol w="2599006">
                  <a:extLst>
                    <a:ext uri="{9D8B030D-6E8A-4147-A177-3AD203B41FA5}">
                      <a16:colId xmlns:a16="http://schemas.microsoft.com/office/drawing/2014/main" val="1447117368"/>
                    </a:ext>
                  </a:extLst>
                </a:gridCol>
                <a:gridCol w="2599006">
                  <a:extLst>
                    <a:ext uri="{9D8B030D-6E8A-4147-A177-3AD203B41FA5}">
                      <a16:colId xmlns:a16="http://schemas.microsoft.com/office/drawing/2014/main" val="3370291502"/>
                    </a:ext>
                  </a:extLst>
                </a:gridCol>
                <a:gridCol w="2935914">
                  <a:extLst>
                    <a:ext uri="{9D8B030D-6E8A-4147-A177-3AD203B41FA5}">
                      <a16:colId xmlns:a16="http://schemas.microsoft.com/office/drawing/2014/main" val="4199698629"/>
                    </a:ext>
                  </a:extLst>
                </a:gridCol>
                <a:gridCol w="2262098">
                  <a:extLst>
                    <a:ext uri="{9D8B030D-6E8A-4147-A177-3AD203B41FA5}">
                      <a16:colId xmlns:a16="http://schemas.microsoft.com/office/drawing/2014/main" val="2895430099"/>
                    </a:ext>
                  </a:extLst>
                </a:gridCol>
              </a:tblGrid>
              <a:tr h="408423">
                <a:tc>
                  <a:txBody>
                    <a:bodyPr/>
                    <a:lstStyle/>
                    <a:p>
                      <a:pPr algn="ctr"/>
                      <a:r>
                        <a:rPr lang="en-US" sz="2200" dirty="0">
                          <a:latin typeface="Times New Roman" panose="02020603050405020304" pitchFamily="18" charset="0"/>
                          <a:cs typeface="Times New Roman" panose="02020603050405020304" pitchFamily="18" charset="0"/>
                        </a:rPr>
                        <a:t>Algorithms Used</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Working</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Drawback</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Datasets Used</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8458557"/>
                  </a:ext>
                </a:extLst>
              </a:tr>
              <a:tr h="3880011">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Rule-based systems combined with LLMs for best practice enforcement.</a:t>
                      </a:r>
                    </a:p>
                    <a:p>
                      <a:pPr marL="457200" indent="-457200" algn="l">
                        <a:buAutoNum type="arabicPeriod"/>
                      </a:pPr>
                      <a:r>
                        <a:rPr lang="en-US" sz="2000" dirty="0">
                          <a:latin typeface="Times New Roman" panose="02020603050405020304" pitchFamily="18" charset="0"/>
                          <a:cs typeface="Times New Roman" panose="02020603050405020304" pitchFamily="18" charset="0"/>
                        </a:rPr>
                        <a:t>Hybrid approaches using style guide-specific datasets.</a:t>
                      </a: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Verifies adherence to best practices and assists reviewers with contextual feedback.</a:t>
                      </a:r>
                    </a:p>
                    <a:p>
                      <a:pPr marL="457200" indent="-457200" algn="l">
                        <a:buAutoNum type="arabicPeriod"/>
                      </a:pPr>
                      <a:r>
                        <a:rPr lang="en-US" sz="2000" dirty="0">
                          <a:latin typeface="Times New Roman" panose="02020603050405020304" pitchFamily="18" charset="0"/>
                          <a:cs typeface="Times New Roman" panose="02020603050405020304" pitchFamily="18" charset="0"/>
                        </a:rPr>
                        <a:t>Optimized for Google’s large-scale industrial codebases.</a:t>
                      </a:r>
                      <a:endParaRPr lang="en-IN" sz="2000" dirty="0">
                        <a:latin typeface="Times New Roman" panose="02020603050405020304" pitchFamily="18" charset="0"/>
                        <a:cs typeface="Times New Roman" panose="02020603050405020304" pitchFamily="18" charset="0"/>
                      </a:endParaRP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Scalability issues in non-Google environments.</a:t>
                      </a:r>
                    </a:p>
                    <a:p>
                      <a:pPr marL="457200" indent="-457200" algn="l">
                        <a:buAutoNum type="arabicPeriod"/>
                      </a:pPr>
                      <a:r>
                        <a:rPr lang="en-US" sz="2000" dirty="0">
                          <a:latin typeface="Times New Roman" panose="02020603050405020304" pitchFamily="18" charset="0"/>
                          <a:cs typeface="Times New Roman" panose="02020603050405020304" pitchFamily="18" charset="0"/>
                        </a:rPr>
                        <a:t>Requires extensive customization for non-standard best practices.</a:t>
                      </a:r>
                    </a:p>
                    <a:p>
                      <a:pPr marL="457200" indent="-457200" algn="l">
                        <a:buAutoNum type="arabicPeriod"/>
                      </a:pPr>
                      <a:r>
                        <a:rPr lang="en-US" sz="2000" dirty="0">
                          <a:latin typeface="Times New Roman" panose="02020603050405020304" pitchFamily="18" charset="0"/>
                          <a:cs typeface="Times New Roman" panose="02020603050405020304" pitchFamily="18" charset="0"/>
                        </a:rPr>
                        <a:t>Partial automation; still heavily reliant on human reviewers for functional validation.</a:t>
                      </a: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Historical code review data from AWS Cloud Infrastructure Development.</a:t>
                      </a:r>
                    </a:p>
                    <a:p>
                      <a:pPr marL="457200" indent="-457200" algn="l">
                        <a:buAutoNum type="arabicPeriod"/>
                      </a:pPr>
                      <a:r>
                        <a:rPr lang="en-US" sz="2000" dirty="0">
                          <a:latin typeface="Times New Roman" panose="02020603050405020304" pitchFamily="18" charset="0"/>
                          <a:cs typeface="Times New Roman" panose="02020603050405020304" pitchFamily="18" charset="0"/>
                        </a:rPr>
                        <a:t>Includes open-source and enterprise-level datasets for validation.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1373210"/>
                  </a:ext>
                </a:extLst>
              </a:tr>
            </a:tbl>
          </a:graphicData>
        </a:graphic>
      </p:graphicFrame>
      <p:sp>
        <p:nvSpPr>
          <p:cNvPr id="5" name="TextBox 4">
            <a:extLst>
              <a:ext uri="{FF2B5EF4-FFF2-40B4-BE49-F238E27FC236}">
                <a16:creationId xmlns:a16="http://schemas.microsoft.com/office/drawing/2014/main" id="{C651E795-7F96-7126-12DC-94B88C19D838}"/>
              </a:ext>
            </a:extLst>
          </p:cNvPr>
          <p:cNvSpPr txBox="1"/>
          <p:nvPr/>
        </p:nvSpPr>
        <p:spPr>
          <a:xfrm>
            <a:off x="3038622" y="1307171"/>
            <a:ext cx="648520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Link: https://www.ijsr.net/archive/v12i2/SR24716230727.pdf</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9470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8263A6-7343-753F-21D3-A6EDEF0E2CFD}"/>
              </a:ext>
            </a:extLst>
          </p:cNvPr>
          <p:cNvSpPr txBox="1"/>
          <p:nvPr/>
        </p:nvSpPr>
        <p:spPr>
          <a:xfrm>
            <a:off x="4339883" y="417566"/>
            <a:ext cx="3123027"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Architecture Diagram</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75D9BF1-FB53-80D6-22E4-73E7677679A1}"/>
              </a:ext>
            </a:extLst>
          </p:cNvPr>
          <p:cNvPicPr>
            <a:picLocks noChangeAspect="1"/>
          </p:cNvPicPr>
          <p:nvPr/>
        </p:nvPicPr>
        <p:blipFill>
          <a:blip r:embed="rId2"/>
          <a:stretch>
            <a:fillRect/>
          </a:stretch>
        </p:blipFill>
        <p:spPr>
          <a:xfrm>
            <a:off x="3303561" y="1294227"/>
            <a:ext cx="5584873" cy="3859530"/>
          </a:xfrm>
          <a:prstGeom prst="rect">
            <a:avLst/>
          </a:prstGeom>
        </p:spPr>
      </p:pic>
      <p:sp>
        <p:nvSpPr>
          <p:cNvPr id="5" name="TextBox 4">
            <a:extLst>
              <a:ext uri="{FF2B5EF4-FFF2-40B4-BE49-F238E27FC236}">
                <a16:creationId xmlns:a16="http://schemas.microsoft.com/office/drawing/2014/main" id="{1E04ECF0-7B5F-EBC5-69D3-A175CA2F79FB}"/>
              </a:ext>
            </a:extLst>
          </p:cNvPr>
          <p:cNvSpPr txBox="1"/>
          <p:nvPr/>
        </p:nvSpPr>
        <p:spPr>
          <a:xfrm>
            <a:off x="3303562" y="5568754"/>
            <a:ext cx="558487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Fig-2: </a:t>
            </a:r>
            <a:r>
              <a:rPr lang="en-US" sz="1800" dirty="0">
                <a:latin typeface="Times New Roman" panose="02020603050405020304" pitchFamily="18" charset="0"/>
                <a:cs typeface="Times New Roman" panose="02020603050405020304" pitchFamily="18" charset="0"/>
              </a:rPr>
              <a:t>Enhancing Software Quality through AI - Assisted Code Review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2230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A9FD3-E726-0DE4-1771-5E8C9E58AC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01705F-529B-FAF1-D3E5-06DBF4970E6F}"/>
              </a:ext>
            </a:extLst>
          </p:cNvPr>
          <p:cNvSpPr txBox="1"/>
          <p:nvPr/>
        </p:nvSpPr>
        <p:spPr>
          <a:xfrm>
            <a:off x="1097280" y="497617"/>
            <a:ext cx="9903655" cy="461665"/>
          </a:xfrm>
          <a:prstGeom prst="rect">
            <a:avLst/>
          </a:prstGeom>
          <a:noFill/>
          <a:ln>
            <a:solidFill>
              <a:schemeClr val="tx1"/>
            </a:solidFill>
          </a:ln>
        </p:spPr>
        <p:txBody>
          <a:bodyPr wrap="square">
            <a:spAutoFit/>
          </a:bodyPr>
          <a:lstStyle/>
          <a:p>
            <a:pPr algn="ctr"/>
            <a:r>
              <a:rPr lang="en-US" sz="2400" dirty="0">
                <a:latin typeface="Times New Roman" panose="02020603050405020304" pitchFamily="18" charset="0"/>
                <a:cs typeface="Times New Roman" panose="02020603050405020304" pitchFamily="18" charset="0"/>
              </a:rPr>
              <a:t>A GPT-based Code Review System for Programming Language Learning </a:t>
            </a:r>
            <a:endParaRPr lang="en-IN" sz="2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DB8EFC73-E786-AEE7-8A38-9A9175DA5BF0}"/>
              </a:ext>
            </a:extLst>
          </p:cNvPr>
          <p:cNvGraphicFramePr>
            <a:graphicFrameLocks noGrp="1"/>
          </p:cNvGraphicFramePr>
          <p:nvPr>
            <p:extLst>
              <p:ext uri="{D42A27DB-BD31-4B8C-83A1-F6EECF244321}">
                <p14:modId xmlns:p14="http://schemas.microsoft.com/office/powerpoint/2010/main" val="2993744045"/>
              </p:ext>
            </p:extLst>
          </p:nvPr>
        </p:nvGraphicFramePr>
        <p:xfrm>
          <a:off x="897988" y="2053652"/>
          <a:ext cx="10396024" cy="4306731"/>
        </p:xfrm>
        <a:graphic>
          <a:graphicData uri="http://schemas.openxmlformats.org/drawingml/2006/table">
            <a:tbl>
              <a:tblPr firstRow="1" bandRow="1">
                <a:tableStyleId>{5DA37D80-6434-44D0-A028-1B22A696006F}</a:tableStyleId>
              </a:tblPr>
              <a:tblGrid>
                <a:gridCol w="2599006">
                  <a:extLst>
                    <a:ext uri="{9D8B030D-6E8A-4147-A177-3AD203B41FA5}">
                      <a16:colId xmlns:a16="http://schemas.microsoft.com/office/drawing/2014/main" val="1447117368"/>
                    </a:ext>
                  </a:extLst>
                </a:gridCol>
                <a:gridCol w="2599006">
                  <a:extLst>
                    <a:ext uri="{9D8B030D-6E8A-4147-A177-3AD203B41FA5}">
                      <a16:colId xmlns:a16="http://schemas.microsoft.com/office/drawing/2014/main" val="3370291502"/>
                    </a:ext>
                  </a:extLst>
                </a:gridCol>
                <a:gridCol w="2935914">
                  <a:extLst>
                    <a:ext uri="{9D8B030D-6E8A-4147-A177-3AD203B41FA5}">
                      <a16:colId xmlns:a16="http://schemas.microsoft.com/office/drawing/2014/main" val="4199698629"/>
                    </a:ext>
                  </a:extLst>
                </a:gridCol>
                <a:gridCol w="2262098">
                  <a:extLst>
                    <a:ext uri="{9D8B030D-6E8A-4147-A177-3AD203B41FA5}">
                      <a16:colId xmlns:a16="http://schemas.microsoft.com/office/drawing/2014/main" val="2895430099"/>
                    </a:ext>
                  </a:extLst>
                </a:gridCol>
              </a:tblGrid>
              <a:tr h="408423">
                <a:tc>
                  <a:txBody>
                    <a:bodyPr/>
                    <a:lstStyle/>
                    <a:p>
                      <a:pPr algn="ctr"/>
                      <a:r>
                        <a:rPr lang="en-US" sz="2200" dirty="0">
                          <a:latin typeface="Times New Roman" panose="02020603050405020304" pitchFamily="18" charset="0"/>
                          <a:cs typeface="Times New Roman" panose="02020603050405020304" pitchFamily="18" charset="0"/>
                        </a:rPr>
                        <a:t>Algorithms Used</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Working</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Drawback</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Datasets Used</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8458557"/>
                  </a:ext>
                </a:extLst>
              </a:tr>
              <a:tr h="3880011">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GPT-4 for personalized code reviews.</a:t>
                      </a:r>
                    </a:p>
                    <a:p>
                      <a:pPr marL="457200" indent="-457200" algn="l">
                        <a:buAutoNum type="arabicPeriod"/>
                      </a:pPr>
                      <a:r>
                        <a:rPr lang="en-US" sz="2000" dirty="0">
                          <a:latin typeface="Times New Roman" panose="02020603050405020304" pitchFamily="18" charset="0"/>
                          <a:cs typeface="Times New Roman" panose="02020603050405020304" pitchFamily="18" charset="0"/>
                        </a:rPr>
                        <a:t>Dataset-enhanced prompts for accuracy in educational scenarios.</a:t>
                      </a: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Collects learner-submitted code and highlights areas for improvement.</a:t>
                      </a:r>
                    </a:p>
                    <a:p>
                      <a:pPr marL="457200" indent="-457200" algn="l">
                        <a:buAutoNum type="arabicPeriod"/>
                      </a:pPr>
                      <a:r>
                        <a:rPr lang="en-US" sz="2000" dirty="0">
                          <a:latin typeface="Times New Roman" panose="02020603050405020304" pitchFamily="18" charset="0"/>
                          <a:cs typeface="Times New Roman" panose="02020603050405020304" pitchFamily="18" charset="0"/>
                        </a:rPr>
                        <a:t>Reduces potential AI-assist cheating by focusing on submitted code rather than generating solutions.</a:t>
                      </a:r>
                      <a:endParaRPr lang="en-IN" sz="2000" dirty="0">
                        <a:latin typeface="Times New Roman" panose="02020603050405020304" pitchFamily="18" charset="0"/>
                        <a:cs typeface="Times New Roman" panose="02020603050405020304" pitchFamily="18" charset="0"/>
                      </a:endParaRP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Context limitations due to dataset dependency.</a:t>
                      </a:r>
                    </a:p>
                    <a:p>
                      <a:pPr marL="457200" indent="-457200" algn="l">
                        <a:buAutoNum type="arabicPeriod"/>
                      </a:pPr>
                      <a:r>
                        <a:rPr lang="en-US" sz="2000" dirty="0">
                          <a:latin typeface="Times New Roman" panose="02020603050405020304" pitchFamily="18" charset="0"/>
                          <a:cs typeface="Times New Roman" panose="02020603050405020304" pitchFamily="18" charset="0"/>
                        </a:rPr>
                        <a:t>Slower in larger educational environments due to scalability issues.</a:t>
                      </a:r>
                    </a:p>
                    <a:p>
                      <a:pPr marL="457200" indent="-457200" algn="l">
                        <a:buAutoNum type="arabicPeriod"/>
                      </a:pPr>
                      <a:r>
                        <a:rPr lang="en-US" sz="2000" dirty="0">
                          <a:latin typeface="Times New Roman" panose="02020603050405020304" pitchFamily="18" charset="0"/>
                          <a:cs typeface="Times New Roman" panose="02020603050405020304" pitchFamily="18" charset="0"/>
                        </a:rPr>
                        <a:t>Vulnerable to false negatives for non-standard code submissions.</a:t>
                      </a:r>
                    </a:p>
                  </a:txBody>
                  <a:tcPr/>
                </a:tc>
                <a:tc>
                  <a:txBody>
                    <a:bodyPr/>
                    <a:lstStyle/>
                    <a:p>
                      <a:pPr marL="0" indent="0" algn="l">
                        <a:buNone/>
                      </a:pPr>
                      <a:r>
                        <a:rPr lang="en-US" sz="2000" dirty="0">
                          <a:latin typeface="Times New Roman" panose="02020603050405020304" pitchFamily="18" charset="0"/>
                          <a:cs typeface="Times New Roman" panose="02020603050405020304" pitchFamily="18" charset="0"/>
                        </a:rPr>
                        <a:t>1. Training data includes public repositories and educational code snippets tailored for teaching.</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1373210"/>
                  </a:ext>
                </a:extLst>
              </a:tr>
            </a:tbl>
          </a:graphicData>
        </a:graphic>
      </p:graphicFrame>
      <p:sp>
        <p:nvSpPr>
          <p:cNvPr id="5" name="TextBox 4">
            <a:extLst>
              <a:ext uri="{FF2B5EF4-FFF2-40B4-BE49-F238E27FC236}">
                <a16:creationId xmlns:a16="http://schemas.microsoft.com/office/drawing/2014/main" id="{8D6A1694-5135-6D22-0F4D-C0CD1B8D81A5}"/>
              </a:ext>
            </a:extLst>
          </p:cNvPr>
          <p:cNvSpPr txBox="1"/>
          <p:nvPr/>
        </p:nvSpPr>
        <p:spPr>
          <a:xfrm>
            <a:off x="3945987" y="1321801"/>
            <a:ext cx="420624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Link: https://arxiv.org/abs/2407.04722v1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7726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2CF5F2-1EEA-BA17-50C7-589FB0B776AD}"/>
              </a:ext>
            </a:extLst>
          </p:cNvPr>
          <p:cNvSpPr txBox="1"/>
          <p:nvPr/>
        </p:nvSpPr>
        <p:spPr>
          <a:xfrm>
            <a:off x="4339883" y="417566"/>
            <a:ext cx="3123027"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Architecture Diagram</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50946DD-3DA3-010D-4578-B38AC58EF125}"/>
              </a:ext>
            </a:extLst>
          </p:cNvPr>
          <p:cNvPicPr>
            <a:picLocks noChangeAspect="1"/>
          </p:cNvPicPr>
          <p:nvPr/>
        </p:nvPicPr>
        <p:blipFill>
          <a:blip r:embed="rId2"/>
          <a:stretch>
            <a:fillRect/>
          </a:stretch>
        </p:blipFill>
        <p:spPr>
          <a:xfrm>
            <a:off x="2768991" y="1223889"/>
            <a:ext cx="6654018" cy="4192173"/>
          </a:xfrm>
          <a:prstGeom prst="rect">
            <a:avLst/>
          </a:prstGeom>
        </p:spPr>
      </p:pic>
      <p:sp>
        <p:nvSpPr>
          <p:cNvPr id="5" name="TextBox 4">
            <a:extLst>
              <a:ext uri="{FF2B5EF4-FFF2-40B4-BE49-F238E27FC236}">
                <a16:creationId xmlns:a16="http://schemas.microsoft.com/office/drawing/2014/main" id="{8E32CEE6-26A6-BE07-B1A3-06B7739B5A8E}"/>
              </a:ext>
            </a:extLst>
          </p:cNvPr>
          <p:cNvSpPr txBox="1"/>
          <p:nvPr/>
        </p:nvSpPr>
        <p:spPr>
          <a:xfrm>
            <a:off x="3746696" y="5634111"/>
            <a:ext cx="4698608"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Fig-3: </a:t>
            </a:r>
            <a:r>
              <a:rPr lang="en-US" sz="1800" dirty="0">
                <a:latin typeface="Times New Roman" panose="02020603050405020304" pitchFamily="18" charset="0"/>
                <a:cs typeface="Times New Roman" panose="02020603050405020304" pitchFamily="18" charset="0"/>
              </a:rPr>
              <a:t>A GPT-based Code Review System for Programming Language Learning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991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AAEFA-D371-FFFF-760D-C74B0C1FE3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ED9FF3-4516-5EFF-99D6-3808D65F2DC4}"/>
              </a:ext>
            </a:extLst>
          </p:cNvPr>
          <p:cNvSpPr txBox="1"/>
          <p:nvPr/>
        </p:nvSpPr>
        <p:spPr>
          <a:xfrm>
            <a:off x="1097280" y="497617"/>
            <a:ext cx="9903655" cy="461665"/>
          </a:xfrm>
          <a:prstGeom prst="rect">
            <a:avLst/>
          </a:prstGeom>
          <a:noFill/>
          <a:ln>
            <a:solidFill>
              <a:schemeClr val="tx1"/>
            </a:solidFill>
          </a:ln>
        </p:spPr>
        <p:txBody>
          <a:bodyPr wrap="square">
            <a:spAutoFit/>
          </a:bodyPr>
          <a:lstStyle/>
          <a:p>
            <a:pPr algn="ctr"/>
            <a:r>
              <a:rPr lang="en-US" sz="2400" dirty="0">
                <a:latin typeface="Times New Roman" panose="02020603050405020304" pitchFamily="18" charset="0"/>
                <a:cs typeface="Times New Roman" panose="02020603050405020304" pitchFamily="18" charset="0"/>
              </a:rPr>
              <a:t>AI-Assisted Assessment of Coding Practices in Modern Code Review</a:t>
            </a:r>
            <a:endParaRPr lang="en-IN" sz="2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1F55810-4D74-D89C-969D-7D945E0038A8}"/>
              </a:ext>
            </a:extLst>
          </p:cNvPr>
          <p:cNvGraphicFramePr>
            <a:graphicFrameLocks noGrp="1"/>
          </p:cNvGraphicFramePr>
          <p:nvPr>
            <p:extLst>
              <p:ext uri="{D42A27DB-BD31-4B8C-83A1-F6EECF244321}">
                <p14:modId xmlns:p14="http://schemas.microsoft.com/office/powerpoint/2010/main" val="2613116632"/>
              </p:ext>
            </p:extLst>
          </p:nvPr>
        </p:nvGraphicFramePr>
        <p:xfrm>
          <a:off x="897988" y="2053652"/>
          <a:ext cx="10396024" cy="4306731"/>
        </p:xfrm>
        <a:graphic>
          <a:graphicData uri="http://schemas.openxmlformats.org/drawingml/2006/table">
            <a:tbl>
              <a:tblPr firstRow="1" bandRow="1">
                <a:tableStyleId>{5DA37D80-6434-44D0-A028-1B22A696006F}</a:tableStyleId>
              </a:tblPr>
              <a:tblGrid>
                <a:gridCol w="2599006">
                  <a:extLst>
                    <a:ext uri="{9D8B030D-6E8A-4147-A177-3AD203B41FA5}">
                      <a16:colId xmlns:a16="http://schemas.microsoft.com/office/drawing/2014/main" val="1447117368"/>
                    </a:ext>
                  </a:extLst>
                </a:gridCol>
                <a:gridCol w="2599006">
                  <a:extLst>
                    <a:ext uri="{9D8B030D-6E8A-4147-A177-3AD203B41FA5}">
                      <a16:colId xmlns:a16="http://schemas.microsoft.com/office/drawing/2014/main" val="3370291502"/>
                    </a:ext>
                  </a:extLst>
                </a:gridCol>
                <a:gridCol w="2935914">
                  <a:extLst>
                    <a:ext uri="{9D8B030D-6E8A-4147-A177-3AD203B41FA5}">
                      <a16:colId xmlns:a16="http://schemas.microsoft.com/office/drawing/2014/main" val="4199698629"/>
                    </a:ext>
                  </a:extLst>
                </a:gridCol>
                <a:gridCol w="2262098">
                  <a:extLst>
                    <a:ext uri="{9D8B030D-6E8A-4147-A177-3AD203B41FA5}">
                      <a16:colId xmlns:a16="http://schemas.microsoft.com/office/drawing/2014/main" val="2895430099"/>
                    </a:ext>
                  </a:extLst>
                </a:gridCol>
              </a:tblGrid>
              <a:tr h="408423">
                <a:tc>
                  <a:txBody>
                    <a:bodyPr/>
                    <a:lstStyle/>
                    <a:p>
                      <a:pPr algn="ctr"/>
                      <a:r>
                        <a:rPr lang="en-US" sz="2200" dirty="0">
                          <a:latin typeface="Times New Roman" panose="02020603050405020304" pitchFamily="18" charset="0"/>
                          <a:cs typeface="Times New Roman" panose="02020603050405020304" pitchFamily="18" charset="0"/>
                        </a:rPr>
                        <a:t>Algorithms Used</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Working</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Drawback</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Datasets Used</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8458557"/>
                  </a:ext>
                </a:extLst>
              </a:tr>
              <a:tr h="3880011">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Large Language Models (LLMs) for natural language feedback.</a:t>
                      </a:r>
                    </a:p>
                    <a:p>
                      <a:pPr marL="457200" indent="-457200" algn="l">
                        <a:buAutoNum type="arabicPeriod"/>
                      </a:pPr>
                      <a:r>
                        <a:rPr lang="en-US" sz="2000" dirty="0">
                          <a:latin typeface="Times New Roman" panose="02020603050405020304" pitchFamily="18" charset="0"/>
                          <a:cs typeface="Times New Roman" panose="02020603050405020304" pitchFamily="18" charset="0"/>
                        </a:rPr>
                        <a:t>Static analysis integration for auto-comment generation.</a:t>
                      </a:r>
                    </a:p>
                  </a:txBody>
                  <a:tcPr/>
                </a:tc>
                <a:tc>
                  <a:txBody>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Generates automated comments based on best practice violations.</a:t>
                      </a:r>
                    </a:p>
                    <a:p>
                      <a:pPr marL="457200" indent="-457200">
                        <a:buAutoNum type="arabicPeriod"/>
                      </a:pPr>
                      <a:r>
                        <a:rPr lang="en-US" sz="2000" dirty="0">
                          <a:latin typeface="Times New Roman" panose="02020603050405020304" pitchFamily="18" charset="0"/>
                          <a:cs typeface="Times New Roman" panose="02020603050405020304" pitchFamily="18" charset="0"/>
                        </a:rPr>
                        <a:t>Enables reviewers to focus on logic rather than style violations.</a:t>
                      </a:r>
                    </a:p>
                    <a:p>
                      <a:pPr marL="0" indent="0" algn="l">
                        <a:buNone/>
                      </a:pPr>
                      <a:endParaRPr lang="en-IN" sz="2000" dirty="0">
                        <a:latin typeface="Times New Roman" panose="02020603050405020304" pitchFamily="18" charset="0"/>
                        <a:cs typeface="Times New Roman" panose="02020603050405020304" pitchFamily="18" charset="0"/>
                      </a:endParaRP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High false positive rates for nuanced style issues.</a:t>
                      </a:r>
                    </a:p>
                    <a:p>
                      <a:pPr marL="457200" indent="-457200" algn="l">
                        <a:buAutoNum type="arabicPeriod"/>
                      </a:pPr>
                      <a:r>
                        <a:rPr lang="en-US" sz="2000" dirty="0">
                          <a:latin typeface="Times New Roman" panose="02020603050405020304" pitchFamily="18" charset="0"/>
                          <a:cs typeface="Times New Roman" panose="02020603050405020304" pitchFamily="18" charset="0"/>
                        </a:rPr>
                        <a:t>Limited adaptability to evolving best practices in codebases.</a:t>
                      </a:r>
                    </a:p>
                    <a:p>
                      <a:pPr marL="457200" indent="-457200" algn="l">
                        <a:buAutoNum type="arabicPeriod"/>
                      </a:pPr>
                      <a:r>
                        <a:rPr lang="en-US" sz="2000" dirty="0">
                          <a:latin typeface="Times New Roman" panose="02020603050405020304" pitchFamily="18" charset="0"/>
                          <a:cs typeface="Times New Roman" panose="02020603050405020304" pitchFamily="18" charset="0"/>
                        </a:rPr>
                        <a:t>Reviewer reliance on automated suggestions may reduce manual scrutiny.</a:t>
                      </a: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Code submissions from diverse programming languages (C++, Java, Python, Go).</a:t>
                      </a:r>
                    </a:p>
                    <a:p>
                      <a:pPr marL="457200" indent="-457200" algn="l">
                        <a:buAutoNum type="arabicPeriod"/>
                      </a:pPr>
                      <a:r>
                        <a:rPr lang="en-US" sz="2000" dirty="0">
                          <a:latin typeface="Times New Roman" panose="02020603050405020304" pitchFamily="18" charset="0"/>
                          <a:cs typeface="Times New Roman" panose="02020603050405020304" pitchFamily="18" charset="0"/>
                        </a:rPr>
                        <a:t>Likely includes open-source datasets and repositories.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1373210"/>
                  </a:ext>
                </a:extLst>
              </a:tr>
            </a:tbl>
          </a:graphicData>
        </a:graphic>
      </p:graphicFrame>
      <p:sp>
        <p:nvSpPr>
          <p:cNvPr id="5" name="TextBox 4">
            <a:extLst>
              <a:ext uri="{FF2B5EF4-FFF2-40B4-BE49-F238E27FC236}">
                <a16:creationId xmlns:a16="http://schemas.microsoft.com/office/drawing/2014/main" id="{AE43F909-B1DA-064D-DD0F-4C3BA901A40E}"/>
              </a:ext>
            </a:extLst>
          </p:cNvPr>
          <p:cNvSpPr txBox="1"/>
          <p:nvPr/>
        </p:nvSpPr>
        <p:spPr>
          <a:xfrm>
            <a:off x="3777175" y="1321801"/>
            <a:ext cx="420624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Link: https://arxiv.org/abs/2405.13565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4843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B9665D-DC45-B5E7-2CB0-D296DAB15949}"/>
              </a:ext>
            </a:extLst>
          </p:cNvPr>
          <p:cNvSpPr txBox="1"/>
          <p:nvPr/>
        </p:nvSpPr>
        <p:spPr>
          <a:xfrm>
            <a:off x="4353951" y="544176"/>
            <a:ext cx="3123027"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Architecture Diagram</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BEC1EE6-7274-D2FC-310E-0A97ACB645E9}"/>
              </a:ext>
            </a:extLst>
          </p:cNvPr>
          <p:cNvPicPr>
            <a:picLocks noChangeAspect="1"/>
          </p:cNvPicPr>
          <p:nvPr/>
        </p:nvPicPr>
        <p:blipFill>
          <a:blip r:embed="rId2"/>
          <a:stretch>
            <a:fillRect/>
          </a:stretch>
        </p:blipFill>
        <p:spPr>
          <a:xfrm>
            <a:off x="1840523" y="1798686"/>
            <a:ext cx="8510954" cy="2548231"/>
          </a:xfrm>
          <a:prstGeom prst="rect">
            <a:avLst/>
          </a:prstGeom>
        </p:spPr>
      </p:pic>
      <p:sp>
        <p:nvSpPr>
          <p:cNvPr id="5" name="TextBox 4">
            <a:extLst>
              <a:ext uri="{FF2B5EF4-FFF2-40B4-BE49-F238E27FC236}">
                <a16:creationId xmlns:a16="http://schemas.microsoft.com/office/drawing/2014/main" id="{59973746-8954-821A-F22D-58277E4C4BDC}"/>
              </a:ext>
            </a:extLst>
          </p:cNvPr>
          <p:cNvSpPr txBox="1"/>
          <p:nvPr/>
        </p:nvSpPr>
        <p:spPr>
          <a:xfrm>
            <a:off x="3479409" y="4620041"/>
            <a:ext cx="5233182"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Fig-4: </a:t>
            </a:r>
            <a:r>
              <a:rPr lang="en-US" sz="1800" dirty="0">
                <a:latin typeface="Times New Roman" panose="02020603050405020304" pitchFamily="18" charset="0"/>
                <a:cs typeface="Times New Roman" panose="02020603050405020304" pitchFamily="18" charset="0"/>
              </a:rPr>
              <a:t>AI-Assisted Assessment of Coding Practices in Modern Code Review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7655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97A7A-DDF7-1320-5482-15B09959FA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A6916E-2679-95B5-FB7B-2D73EC1B99DF}"/>
              </a:ext>
            </a:extLst>
          </p:cNvPr>
          <p:cNvSpPr txBox="1"/>
          <p:nvPr/>
        </p:nvSpPr>
        <p:spPr>
          <a:xfrm>
            <a:off x="1946031" y="488797"/>
            <a:ext cx="8299938" cy="461665"/>
          </a:xfrm>
          <a:prstGeom prst="rect">
            <a:avLst/>
          </a:prstGeom>
          <a:noFill/>
          <a:ln>
            <a:solidFill>
              <a:schemeClr val="tx1"/>
            </a:solidFill>
          </a:ln>
        </p:spPr>
        <p:txBody>
          <a:bodyPr wrap="square">
            <a:spAutoFit/>
          </a:bodyPr>
          <a:lstStyle/>
          <a:p>
            <a:pPr algn="ctr"/>
            <a:r>
              <a:rPr lang="en-US" sz="2400" dirty="0">
                <a:latin typeface="Times New Roman" panose="02020603050405020304" pitchFamily="18" charset="0"/>
                <a:cs typeface="Times New Roman" panose="02020603050405020304" pitchFamily="18" charset="0"/>
              </a:rPr>
              <a:t>AI-powered Code Review with LLMs</a:t>
            </a:r>
            <a:endParaRPr lang="en-IN" sz="2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9D7F248-3170-7DE7-5C23-D7764BA06291}"/>
              </a:ext>
            </a:extLst>
          </p:cNvPr>
          <p:cNvGraphicFramePr>
            <a:graphicFrameLocks noGrp="1"/>
          </p:cNvGraphicFramePr>
          <p:nvPr>
            <p:extLst>
              <p:ext uri="{D42A27DB-BD31-4B8C-83A1-F6EECF244321}">
                <p14:modId xmlns:p14="http://schemas.microsoft.com/office/powerpoint/2010/main" val="4262691808"/>
              </p:ext>
            </p:extLst>
          </p:nvPr>
        </p:nvGraphicFramePr>
        <p:xfrm>
          <a:off x="745588" y="1888643"/>
          <a:ext cx="10972800" cy="4480560"/>
        </p:xfrm>
        <a:graphic>
          <a:graphicData uri="http://schemas.openxmlformats.org/drawingml/2006/table">
            <a:tbl>
              <a:tblPr firstRow="1" bandRow="1">
                <a:tableStyleId>{5DA37D80-6434-44D0-A028-1B22A696006F}</a:tableStyleId>
              </a:tblPr>
              <a:tblGrid>
                <a:gridCol w="2743200">
                  <a:extLst>
                    <a:ext uri="{9D8B030D-6E8A-4147-A177-3AD203B41FA5}">
                      <a16:colId xmlns:a16="http://schemas.microsoft.com/office/drawing/2014/main" val="1447117368"/>
                    </a:ext>
                  </a:extLst>
                </a:gridCol>
                <a:gridCol w="2743200">
                  <a:extLst>
                    <a:ext uri="{9D8B030D-6E8A-4147-A177-3AD203B41FA5}">
                      <a16:colId xmlns:a16="http://schemas.microsoft.com/office/drawing/2014/main" val="3370291502"/>
                    </a:ext>
                  </a:extLst>
                </a:gridCol>
                <a:gridCol w="3098800">
                  <a:extLst>
                    <a:ext uri="{9D8B030D-6E8A-4147-A177-3AD203B41FA5}">
                      <a16:colId xmlns:a16="http://schemas.microsoft.com/office/drawing/2014/main" val="4199698629"/>
                    </a:ext>
                  </a:extLst>
                </a:gridCol>
                <a:gridCol w="2387600">
                  <a:extLst>
                    <a:ext uri="{9D8B030D-6E8A-4147-A177-3AD203B41FA5}">
                      <a16:colId xmlns:a16="http://schemas.microsoft.com/office/drawing/2014/main" val="2895430099"/>
                    </a:ext>
                  </a:extLst>
                </a:gridCol>
              </a:tblGrid>
              <a:tr h="408423">
                <a:tc>
                  <a:txBody>
                    <a:bodyPr/>
                    <a:lstStyle/>
                    <a:p>
                      <a:pPr algn="ctr"/>
                      <a:r>
                        <a:rPr lang="en-US" sz="2200" dirty="0">
                          <a:latin typeface="Times New Roman" panose="02020603050405020304" pitchFamily="18" charset="0"/>
                          <a:cs typeface="Times New Roman" panose="02020603050405020304" pitchFamily="18" charset="0"/>
                        </a:rPr>
                        <a:t>Algorithms Used</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Working</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Drawback</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Datasets Used</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8458557"/>
                  </a:ext>
                </a:extLst>
              </a:tr>
              <a:tr h="3880011">
                <a:tc>
                  <a:txBody>
                    <a:bodyPr/>
                    <a:lstStyle/>
                    <a:p>
                      <a:pPr marL="457200" indent="-457200">
                        <a:buAutoNum type="arabicPeriod"/>
                      </a:pPr>
                      <a:r>
                        <a:rPr lang="en-IN" sz="2000" dirty="0">
                          <a:latin typeface="Times New Roman" panose="02020603050405020304" pitchFamily="18" charset="0"/>
                          <a:cs typeface="Times New Roman" panose="02020603050405020304" pitchFamily="18" charset="0"/>
                        </a:rPr>
                        <a:t>Transformer-based models for contextual analysis.</a:t>
                      </a:r>
                    </a:p>
                    <a:p>
                      <a:pPr marL="457200" indent="-457200">
                        <a:buAutoNum type="arabicPeriod"/>
                      </a:pPr>
                      <a:r>
                        <a:rPr lang="en-IN" sz="2000" dirty="0">
                          <a:latin typeface="Times New Roman" panose="02020603050405020304" pitchFamily="18" charset="0"/>
                          <a:cs typeface="Times New Roman" panose="02020603050405020304" pitchFamily="18" charset="0"/>
                        </a:rPr>
                        <a:t>Multi-level embeddings for semantic understanding.</a:t>
                      </a:r>
                    </a:p>
                  </a:txBody>
                  <a:tcPr/>
                </a:tc>
                <a:tc>
                  <a:txBody>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Detects code smells, predicts potential bugs, and suggests optimizations</a:t>
                      </a:r>
                    </a:p>
                    <a:p>
                      <a:pPr marL="457200" indent="-457200">
                        <a:buAutoNum type="arabicPeriod"/>
                      </a:pPr>
                      <a:r>
                        <a:rPr lang="en-US" sz="2000" dirty="0">
                          <a:latin typeface="Times New Roman" panose="02020603050405020304" pitchFamily="18" charset="0"/>
                          <a:cs typeface="Times New Roman" panose="02020603050405020304" pitchFamily="18" charset="0"/>
                        </a:rPr>
                        <a:t>Enhances developer education through detailed feedback mechanisms.</a:t>
                      </a:r>
                      <a:endParaRPr lang="en-IN" sz="2000" dirty="0">
                        <a:latin typeface="Times New Roman" panose="02020603050405020304" pitchFamily="18" charset="0"/>
                        <a:cs typeface="Times New Roman" panose="02020603050405020304" pitchFamily="18" charset="0"/>
                      </a:endParaRP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Over-reliance on pre-trained datasets can lead to biased recommendations.</a:t>
                      </a:r>
                    </a:p>
                    <a:p>
                      <a:pPr marL="457200" indent="-457200" algn="l">
                        <a:buAutoNum type="arabicPeriod"/>
                      </a:pPr>
                      <a:r>
                        <a:rPr lang="en-US" sz="2000" dirty="0">
                          <a:latin typeface="Times New Roman" panose="02020603050405020304" pitchFamily="18" charset="0"/>
                          <a:cs typeface="Times New Roman" panose="02020603050405020304" pitchFamily="18" charset="0"/>
                        </a:rPr>
                        <a:t>Limited empirical validation against manual reviews in industrial settings.</a:t>
                      </a:r>
                    </a:p>
                    <a:p>
                      <a:pPr marL="457200" indent="-457200" algn="l">
                        <a:buAutoNum type="arabicPeriod"/>
                      </a:pPr>
                      <a:r>
                        <a:rPr lang="en-US" sz="2000" dirty="0">
                          <a:latin typeface="Times New Roman" panose="02020603050405020304" pitchFamily="18" charset="0"/>
                          <a:cs typeface="Times New Roman" panose="02020603050405020304" pitchFamily="18" charset="0"/>
                        </a:rPr>
                        <a:t>Poor performance in detecting deeper architectural flaws.</a:t>
                      </a: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Large code repositories from GitHub, bug reports, and documentation of best practices.</a:t>
                      </a:r>
                    </a:p>
                    <a:p>
                      <a:pPr marL="457200" indent="-457200" algn="l">
                        <a:buAutoNum type="arabicPeriod"/>
                      </a:pPr>
                      <a:r>
                        <a:rPr lang="en-US" sz="2000" dirty="0">
                          <a:latin typeface="Times New Roman" panose="02020603050405020304" pitchFamily="18" charset="0"/>
                          <a:cs typeface="Times New Roman" panose="02020603050405020304" pitchFamily="18" charset="0"/>
                        </a:rPr>
                        <a:t>Dataset sourced via GitHub REST API for public repositories and historical pull requests.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1373210"/>
                  </a:ext>
                </a:extLst>
              </a:tr>
            </a:tbl>
          </a:graphicData>
        </a:graphic>
      </p:graphicFrame>
      <p:sp>
        <p:nvSpPr>
          <p:cNvPr id="5" name="TextBox 4">
            <a:extLst>
              <a:ext uri="{FF2B5EF4-FFF2-40B4-BE49-F238E27FC236}">
                <a16:creationId xmlns:a16="http://schemas.microsoft.com/office/drawing/2014/main" id="{41109F9D-B4F9-C62C-0915-00C032F52FEE}"/>
              </a:ext>
            </a:extLst>
          </p:cNvPr>
          <p:cNvSpPr txBox="1"/>
          <p:nvPr/>
        </p:nvSpPr>
        <p:spPr>
          <a:xfrm>
            <a:off x="3889717" y="1234886"/>
            <a:ext cx="420624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Link: https://arxiv.org/abs/2404.18496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7138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99E89-935D-809C-54CD-4AB40662E2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639387-A397-7736-E5CE-9D4FEF3E8526}"/>
              </a:ext>
            </a:extLst>
          </p:cNvPr>
          <p:cNvSpPr txBox="1"/>
          <p:nvPr/>
        </p:nvSpPr>
        <p:spPr>
          <a:xfrm>
            <a:off x="1601372" y="261676"/>
            <a:ext cx="8782929" cy="830997"/>
          </a:xfrm>
          <a:prstGeom prst="rect">
            <a:avLst/>
          </a:prstGeom>
          <a:noFill/>
          <a:ln>
            <a:solidFill>
              <a:schemeClr val="tx1"/>
            </a:solidFill>
          </a:ln>
        </p:spPr>
        <p:txBody>
          <a:bodyPr wrap="square">
            <a:spAutoFit/>
          </a:bodyPr>
          <a:lstStyle/>
          <a:p>
            <a:pPr algn="ctr"/>
            <a:r>
              <a:rPr lang="en-US" sz="2400" dirty="0">
                <a:latin typeface="Times New Roman" panose="02020603050405020304" pitchFamily="18" charset="0"/>
                <a:cs typeface="Times New Roman" panose="02020603050405020304" pitchFamily="18" charset="0"/>
              </a:rPr>
              <a:t>Optimizing AI-Assisted Code Generation: Enhancing Security, Efficiency, and Accessibility in Software Development</a:t>
            </a:r>
            <a:endParaRPr lang="en-IN" sz="24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6D61FF3-DDAA-678C-A58A-59108AD7E65E}"/>
              </a:ext>
            </a:extLst>
          </p:cNvPr>
          <p:cNvGraphicFramePr>
            <a:graphicFrameLocks noGrp="1"/>
          </p:cNvGraphicFramePr>
          <p:nvPr>
            <p:extLst>
              <p:ext uri="{D42A27DB-BD31-4B8C-83A1-F6EECF244321}">
                <p14:modId xmlns:p14="http://schemas.microsoft.com/office/powerpoint/2010/main" val="265668376"/>
              </p:ext>
            </p:extLst>
          </p:nvPr>
        </p:nvGraphicFramePr>
        <p:xfrm>
          <a:off x="609600" y="2071523"/>
          <a:ext cx="10972800" cy="4306731"/>
        </p:xfrm>
        <a:graphic>
          <a:graphicData uri="http://schemas.openxmlformats.org/drawingml/2006/table">
            <a:tbl>
              <a:tblPr firstRow="1" bandRow="1">
                <a:tableStyleId>{5DA37D80-6434-44D0-A028-1B22A696006F}</a:tableStyleId>
              </a:tblPr>
              <a:tblGrid>
                <a:gridCol w="2743200">
                  <a:extLst>
                    <a:ext uri="{9D8B030D-6E8A-4147-A177-3AD203B41FA5}">
                      <a16:colId xmlns:a16="http://schemas.microsoft.com/office/drawing/2014/main" val="1447117368"/>
                    </a:ext>
                  </a:extLst>
                </a:gridCol>
                <a:gridCol w="2743200">
                  <a:extLst>
                    <a:ext uri="{9D8B030D-6E8A-4147-A177-3AD203B41FA5}">
                      <a16:colId xmlns:a16="http://schemas.microsoft.com/office/drawing/2014/main" val="3370291502"/>
                    </a:ext>
                  </a:extLst>
                </a:gridCol>
                <a:gridCol w="3098800">
                  <a:extLst>
                    <a:ext uri="{9D8B030D-6E8A-4147-A177-3AD203B41FA5}">
                      <a16:colId xmlns:a16="http://schemas.microsoft.com/office/drawing/2014/main" val="4199698629"/>
                    </a:ext>
                  </a:extLst>
                </a:gridCol>
                <a:gridCol w="2387600">
                  <a:extLst>
                    <a:ext uri="{9D8B030D-6E8A-4147-A177-3AD203B41FA5}">
                      <a16:colId xmlns:a16="http://schemas.microsoft.com/office/drawing/2014/main" val="2895430099"/>
                    </a:ext>
                  </a:extLst>
                </a:gridCol>
              </a:tblGrid>
              <a:tr h="408423">
                <a:tc>
                  <a:txBody>
                    <a:bodyPr/>
                    <a:lstStyle/>
                    <a:p>
                      <a:pPr algn="ctr"/>
                      <a:r>
                        <a:rPr lang="en-US" sz="2200" dirty="0">
                          <a:latin typeface="Times New Roman" panose="02020603050405020304" pitchFamily="18" charset="0"/>
                          <a:cs typeface="Times New Roman" panose="02020603050405020304" pitchFamily="18" charset="0"/>
                        </a:rPr>
                        <a:t>Algorithms Used</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Working</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Drawback</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Datasets Used</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8458557"/>
                  </a:ext>
                </a:extLst>
              </a:tr>
              <a:tr h="3880011">
                <a:tc>
                  <a:txBody>
                    <a:bodyPr/>
                    <a:lstStyle/>
                    <a:p>
                      <a:pPr marL="457200" indent="-457200">
                        <a:buAutoNum type="arabicPeriod"/>
                      </a:pPr>
                      <a:r>
                        <a:rPr lang="en-IN" sz="2000" dirty="0">
                          <a:latin typeface="Times New Roman" panose="02020603050405020304" pitchFamily="18" charset="0"/>
                          <a:cs typeface="Times New Roman" panose="02020603050405020304" pitchFamily="18" charset="0"/>
                        </a:rPr>
                        <a:t>Encoder-Decoder Transformer models (e.g., GPT-3, Codex, </a:t>
                      </a:r>
                      <a:r>
                        <a:rPr lang="en-IN" sz="2000" dirty="0" err="1">
                          <a:latin typeface="Times New Roman" panose="02020603050405020304" pitchFamily="18" charset="0"/>
                          <a:cs typeface="Times New Roman" panose="02020603050405020304" pitchFamily="18" charset="0"/>
                        </a:rPr>
                        <a:t>AlphaCode</a:t>
                      </a:r>
                      <a:r>
                        <a:rPr lang="en-IN" sz="2000" dirty="0">
                          <a:latin typeface="Times New Roman" panose="02020603050405020304" pitchFamily="18" charset="0"/>
                          <a:cs typeface="Times New Roman" panose="02020603050405020304" pitchFamily="18" charset="0"/>
                        </a:rPr>
                        <a:t>).</a:t>
                      </a:r>
                    </a:p>
                    <a:p>
                      <a:pPr marL="457200" indent="-457200">
                        <a:buAutoNum type="arabicPeriod"/>
                      </a:pPr>
                      <a:r>
                        <a:rPr lang="en-IN" sz="2000" dirty="0">
                          <a:latin typeface="Times New Roman" panose="02020603050405020304" pitchFamily="18" charset="0"/>
                          <a:cs typeface="Times New Roman" panose="02020603050405020304" pitchFamily="18" charset="0"/>
                        </a:rPr>
                        <a:t>Static analysis tools integrated with LLMs.</a:t>
                      </a:r>
                    </a:p>
                  </a:txBody>
                  <a:tcPr/>
                </a:tc>
                <a:tc>
                  <a:txBody>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AI generates, evaluates, and optimizes code snippets for security and efficiency.</a:t>
                      </a:r>
                    </a:p>
                    <a:p>
                      <a:pPr marL="457200" indent="-457200">
                        <a:buAutoNum type="arabicPeriod"/>
                      </a:pPr>
                      <a:r>
                        <a:rPr lang="en-US" sz="2000" dirty="0">
                          <a:latin typeface="Times New Roman" panose="02020603050405020304" pitchFamily="18" charset="0"/>
                          <a:cs typeface="Times New Roman" panose="02020603050405020304" pitchFamily="18" charset="0"/>
                        </a:rPr>
                        <a:t>Incorporates feedback loops to improve successive generations of code.</a:t>
                      </a:r>
                      <a:endParaRPr lang="en-IN" sz="2000" dirty="0">
                        <a:latin typeface="Times New Roman" panose="02020603050405020304" pitchFamily="18" charset="0"/>
                        <a:cs typeface="Times New Roman" panose="02020603050405020304" pitchFamily="18" charset="0"/>
                      </a:endParaRPr>
                    </a:p>
                  </a:txBody>
                  <a:tcPr/>
                </a:tc>
                <a:tc>
                  <a:txBody>
                    <a:bodyPr/>
                    <a:lstStyle/>
                    <a:p>
                      <a:pPr marL="457200" indent="-457200" algn="l">
                        <a:buAutoNum type="arabicPeriod"/>
                      </a:pPr>
                      <a:r>
                        <a:rPr lang="en-US" sz="2000" dirty="0">
                          <a:latin typeface="Times New Roman" panose="02020603050405020304" pitchFamily="18" charset="0"/>
                          <a:cs typeface="Times New Roman" panose="02020603050405020304" pitchFamily="18" charset="0"/>
                        </a:rPr>
                        <a:t>Generated code may contain logical errors despite syntactical correctness.</a:t>
                      </a:r>
                    </a:p>
                    <a:p>
                      <a:pPr marL="457200" indent="-457200" algn="l">
                        <a:buAutoNum type="arabicPeriod"/>
                      </a:pPr>
                      <a:r>
                        <a:rPr lang="en-US" sz="2000" dirty="0">
                          <a:latin typeface="Times New Roman" panose="02020603050405020304" pitchFamily="18" charset="0"/>
                          <a:cs typeface="Times New Roman" panose="02020603050405020304" pitchFamily="18" charset="0"/>
                        </a:rPr>
                        <a:t>Struggles with domain-specific languages not included in training data.</a:t>
                      </a:r>
                    </a:p>
                    <a:p>
                      <a:pPr marL="457200" indent="-457200" algn="l">
                        <a:buAutoNum type="arabicPeriod"/>
                      </a:pPr>
                      <a:r>
                        <a:rPr lang="en-US" sz="2000" dirty="0">
                          <a:latin typeface="Times New Roman" panose="02020603050405020304" pitchFamily="18" charset="0"/>
                          <a:cs typeface="Times New Roman" panose="02020603050405020304" pitchFamily="18" charset="0"/>
                        </a:rPr>
                        <a:t>High computation cost and dependency on GPU infrastructure.</a:t>
                      </a:r>
                    </a:p>
                  </a:txBody>
                  <a:tcPr/>
                </a:tc>
                <a:tc>
                  <a:txBody>
                    <a:bodyPr/>
                    <a:lstStyle/>
                    <a:p>
                      <a:pPr marL="0" indent="0" algn="l">
                        <a:buNone/>
                      </a:pPr>
                      <a:r>
                        <a:rPr lang="en-US" sz="2000" dirty="0">
                          <a:latin typeface="Times New Roman" panose="02020603050405020304" pitchFamily="18" charset="0"/>
                          <a:cs typeface="Times New Roman" panose="02020603050405020304" pitchFamily="18" charset="0"/>
                        </a:rPr>
                        <a:t>1. Pre-trained on extensive repositories like GitHub and datasets used by LLMs (e.g., OpenAI Codex, </a:t>
                      </a:r>
                      <a:r>
                        <a:rPr lang="en-US" sz="2000" dirty="0" err="1">
                          <a:latin typeface="Times New Roman" panose="02020603050405020304" pitchFamily="18" charset="0"/>
                          <a:cs typeface="Times New Roman" panose="02020603050405020304" pitchFamily="18" charset="0"/>
                        </a:rPr>
                        <a:t>AlphaCode</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1373210"/>
                  </a:ext>
                </a:extLst>
              </a:tr>
            </a:tbl>
          </a:graphicData>
        </a:graphic>
      </p:graphicFrame>
      <p:sp>
        <p:nvSpPr>
          <p:cNvPr id="5" name="TextBox 4">
            <a:extLst>
              <a:ext uri="{FF2B5EF4-FFF2-40B4-BE49-F238E27FC236}">
                <a16:creationId xmlns:a16="http://schemas.microsoft.com/office/drawing/2014/main" id="{CB517887-A891-862E-CA97-8EE041AEA502}"/>
              </a:ext>
            </a:extLst>
          </p:cNvPr>
          <p:cNvSpPr txBox="1"/>
          <p:nvPr/>
        </p:nvSpPr>
        <p:spPr>
          <a:xfrm>
            <a:off x="3889716" y="1305992"/>
            <a:ext cx="420624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Link: https://arxiv.org/abs/2412.10953v1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4212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24A274-E4FC-85E3-477E-DBF1F73AFED6}"/>
              </a:ext>
            </a:extLst>
          </p:cNvPr>
          <p:cNvPicPr>
            <a:picLocks noChangeAspect="1"/>
          </p:cNvPicPr>
          <p:nvPr/>
        </p:nvPicPr>
        <p:blipFill>
          <a:blip r:embed="rId2"/>
          <a:stretch>
            <a:fillRect/>
          </a:stretch>
        </p:blipFill>
        <p:spPr>
          <a:xfrm>
            <a:off x="4413738" y="1358204"/>
            <a:ext cx="3003452" cy="3818426"/>
          </a:xfrm>
          <a:prstGeom prst="rect">
            <a:avLst/>
          </a:prstGeom>
        </p:spPr>
      </p:pic>
      <p:sp>
        <p:nvSpPr>
          <p:cNvPr id="4" name="TextBox 3">
            <a:extLst>
              <a:ext uri="{FF2B5EF4-FFF2-40B4-BE49-F238E27FC236}">
                <a16:creationId xmlns:a16="http://schemas.microsoft.com/office/drawing/2014/main" id="{7AD6A79C-5B2C-91BE-C725-C63854B10D82}"/>
              </a:ext>
            </a:extLst>
          </p:cNvPr>
          <p:cNvSpPr txBox="1"/>
          <p:nvPr/>
        </p:nvSpPr>
        <p:spPr>
          <a:xfrm>
            <a:off x="4353951" y="544176"/>
            <a:ext cx="3123027"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Architecture Diagram</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FB9C1E5-1714-0800-7D82-AEA9F976625D}"/>
              </a:ext>
            </a:extLst>
          </p:cNvPr>
          <p:cNvSpPr txBox="1"/>
          <p:nvPr/>
        </p:nvSpPr>
        <p:spPr>
          <a:xfrm>
            <a:off x="2501704" y="5499124"/>
            <a:ext cx="7188591"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Fig-5: </a:t>
            </a:r>
            <a:r>
              <a:rPr lang="en-US" sz="1800" dirty="0">
                <a:latin typeface="Times New Roman" panose="02020603050405020304" pitchFamily="18" charset="0"/>
                <a:cs typeface="Times New Roman" panose="02020603050405020304" pitchFamily="18" charset="0"/>
              </a:rPr>
              <a:t>Optimizing AI-Assisted Code Generation: Enhancing Security, Efficiency, and Accessibility in Software Development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2757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B21FCA-2D3B-374A-F7BC-5BB6C8AA165C}"/>
              </a:ext>
            </a:extLst>
          </p:cNvPr>
          <p:cNvSpPr txBox="1"/>
          <p:nvPr/>
        </p:nvSpPr>
        <p:spPr>
          <a:xfrm>
            <a:off x="4543866" y="858129"/>
            <a:ext cx="2447778"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Existing</a:t>
            </a:r>
            <a:r>
              <a:rPr lang="en-US" sz="2400" b="1" u="sng" dirty="0">
                <a:latin typeface="Times New Roman" panose="02020603050405020304" pitchFamily="18" charset="0"/>
                <a:cs typeface="Times New Roman" panose="02020603050405020304" pitchFamily="18" charset="0"/>
              </a:rPr>
              <a:t> System</a:t>
            </a:r>
            <a:endParaRPr lang="en-IN" sz="24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137FEA3-6DDD-6E57-AC1C-4572F91DA0AE}"/>
              </a:ext>
            </a:extLst>
          </p:cNvPr>
          <p:cNvSpPr txBox="1"/>
          <p:nvPr/>
        </p:nvSpPr>
        <p:spPr>
          <a:xfrm>
            <a:off x="1495864" y="1859339"/>
            <a:ext cx="9200272" cy="3139321"/>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Existing AI-based code review systems rely on single-purpose models or static analysis tools for identifying issues like syntax errors, security vulnerabilities, and performance bottlenecks. These systems often lack integration, leading to fragmented insights. They also struggle with real-time feedback, adaptability to evolving coding standards, and comprehensive error detection across multiple domains. Furthermore, some systems fail to address nuanced context-specific issues or provide actionable, user-friendly recommendations, limiting their utility for developers.</a:t>
            </a:r>
          </a:p>
          <a:p>
            <a:pPr algn="just"/>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7189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1B68D6-5B91-F485-0C0B-A0FBEA83C8A0}"/>
              </a:ext>
            </a:extLst>
          </p:cNvPr>
          <p:cNvSpPr txBox="1"/>
          <p:nvPr/>
        </p:nvSpPr>
        <p:spPr>
          <a:xfrm>
            <a:off x="4586070" y="749950"/>
            <a:ext cx="2700996"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Proposed</a:t>
            </a:r>
            <a:r>
              <a:rPr lang="en-US" sz="2400" b="1" u="sng" dirty="0">
                <a:latin typeface="Times New Roman" panose="02020603050405020304" pitchFamily="18" charset="0"/>
                <a:cs typeface="Times New Roman" panose="02020603050405020304" pitchFamily="18" charset="0"/>
              </a:rPr>
              <a:t> System</a:t>
            </a:r>
            <a:endParaRPr lang="en-IN" sz="24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1971D0C-D5BB-9C17-4DDD-9E72ACD3A855}"/>
              </a:ext>
            </a:extLst>
          </p:cNvPr>
          <p:cNvSpPr txBox="1"/>
          <p:nvPr/>
        </p:nvSpPr>
        <p:spPr>
          <a:xfrm>
            <a:off x="1031631" y="1522179"/>
            <a:ext cx="10128738" cy="4585871"/>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Our proposed AI Code Review System uses advanced Generative AI agents powered by OpenAI GPT models, each specializing in areas like syntax validation, security analysis, performance optimization, and coding best practices. By orchestrating these agents through Celery and integrating them via </a:t>
            </a:r>
            <a:r>
              <a:rPr lang="en-US" sz="2200" dirty="0" err="1">
                <a:latin typeface="Times New Roman" panose="02020603050405020304" pitchFamily="18" charset="0"/>
                <a:cs typeface="Times New Roman" panose="02020603050405020304" pitchFamily="18" charset="0"/>
              </a:rPr>
              <a:t>FastAPI</a:t>
            </a:r>
            <a:r>
              <a:rPr lang="en-US" sz="2200" dirty="0">
                <a:latin typeface="Times New Roman" panose="02020603050405020304" pitchFamily="18" charset="0"/>
                <a:cs typeface="Times New Roman" panose="02020603050405020304" pitchFamily="18" charset="0"/>
              </a:rPr>
              <a:t>, the system delivers consolidated, real-time feedback that is both actionable and easy to understand. Unlike traditional systems, it eliminates fragmented insights, adapts to evolving coding standards, and scales effortlessly with </a:t>
            </a:r>
            <a:r>
              <a:rPr lang="en-US" sz="2200" dirty="0" err="1">
                <a:latin typeface="Times New Roman" panose="02020603050405020304" pitchFamily="18" charset="0"/>
                <a:cs typeface="Times New Roman" panose="02020603050405020304" pitchFamily="18" charset="0"/>
              </a:rPr>
              <a:t>Dockerized</a:t>
            </a:r>
            <a:r>
              <a:rPr lang="en-US" sz="2200" dirty="0">
                <a:latin typeface="Times New Roman" panose="02020603050405020304" pitchFamily="18" charset="0"/>
                <a:cs typeface="Times New Roman" panose="02020603050405020304" pitchFamily="18" charset="0"/>
              </a:rPr>
              <a:t> deployment, providing developers with a unified and intelligent code review experience.</a:t>
            </a:r>
          </a:p>
          <a:p>
            <a:pPr algn="just"/>
            <a:r>
              <a:rPr lang="en-IN" sz="2200" dirty="0">
                <a:latin typeface="Times New Roman" panose="02020603050405020304" pitchFamily="18" charset="0"/>
                <a:cs typeface="Times New Roman" panose="02020603050405020304" pitchFamily="18" charset="0"/>
              </a:rPr>
              <a:t>Datasets used: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Pre-trained GPT models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These are already equipped with knowledge from diverse codebases.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user inputs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Submitted during system use. </a:t>
            </a: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865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456F75-46EB-29C1-E006-46E87DDD4513}"/>
              </a:ext>
            </a:extLst>
          </p:cNvPr>
          <p:cNvSpPr txBox="1"/>
          <p:nvPr/>
        </p:nvSpPr>
        <p:spPr>
          <a:xfrm>
            <a:off x="379827" y="90436"/>
            <a:ext cx="669622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How our system overcome drawbacks of the existing system?</a:t>
            </a:r>
            <a:endParaRPr lang="en-IN" sz="2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2B2CE2A9-F9F3-A939-F751-1CF0BA80EC60}"/>
              </a:ext>
            </a:extLst>
          </p:cNvPr>
          <p:cNvGraphicFramePr>
            <a:graphicFrameLocks noGrp="1"/>
          </p:cNvGraphicFramePr>
          <p:nvPr>
            <p:extLst>
              <p:ext uri="{D42A27DB-BD31-4B8C-83A1-F6EECF244321}">
                <p14:modId xmlns:p14="http://schemas.microsoft.com/office/powerpoint/2010/main" val="1076645627"/>
              </p:ext>
            </p:extLst>
          </p:nvPr>
        </p:nvGraphicFramePr>
        <p:xfrm>
          <a:off x="686973" y="694248"/>
          <a:ext cx="10818054" cy="5760720"/>
        </p:xfrm>
        <a:graphic>
          <a:graphicData uri="http://schemas.openxmlformats.org/drawingml/2006/table">
            <a:tbl>
              <a:tblPr firstRow="1" bandRow="1">
                <a:tableStyleId>{5DA37D80-6434-44D0-A028-1B22A696006F}</a:tableStyleId>
              </a:tblPr>
              <a:tblGrid>
                <a:gridCol w="3456656">
                  <a:extLst>
                    <a:ext uri="{9D8B030D-6E8A-4147-A177-3AD203B41FA5}">
                      <a16:colId xmlns:a16="http://schemas.microsoft.com/office/drawing/2014/main" val="1447117368"/>
                    </a:ext>
                  </a:extLst>
                </a:gridCol>
                <a:gridCol w="3456656">
                  <a:extLst>
                    <a:ext uri="{9D8B030D-6E8A-4147-A177-3AD203B41FA5}">
                      <a16:colId xmlns:a16="http://schemas.microsoft.com/office/drawing/2014/main" val="3370291502"/>
                    </a:ext>
                  </a:extLst>
                </a:gridCol>
                <a:gridCol w="3904742">
                  <a:extLst>
                    <a:ext uri="{9D8B030D-6E8A-4147-A177-3AD203B41FA5}">
                      <a16:colId xmlns:a16="http://schemas.microsoft.com/office/drawing/2014/main" val="4199698629"/>
                    </a:ext>
                  </a:extLst>
                </a:gridCol>
              </a:tblGrid>
              <a:tr h="404222">
                <a:tc>
                  <a:txBody>
                    <a:bodyPr/>
                    <a:lstStyle/>
                    <a:p>
                      <a:pPr algn="ctr"/>
                      <a:r>
                        <a:rPr lang="en-IN" sz="2200" b="1" dirty="0">
                          <a:latin typeface="Times New Roman" panose="02020603050405020304" pitchFamily="18" charset="0"/>
                          <a:cs typeface="Times New Roman" panose="02020603050405020304" pitchFamily="18" charset="0"/>
                        </a:rPr>
                        <a:t>Drawback</a:t>
                      </a:r>
                    </a:p>
                  </a:txBody>
                  <a:tcPr/>
                </a:tc>
                <a:tc>
                  <a:txBody>
                    <a:bodyPr/>
                    <a:lstStyle/>
                    <a:p>
                      <a:pPr algn="ctr"/>
                      <a:r>
                        <a:rPr lang="en-IN" sz="2200" b="1" dirty="0">
                          <a:latin typeface="Times New Roman" panose="02020603050405020304" pitchFamily="18" charset="0"/>
                          <a:cs typeface="Times New Roman" panose="02020603050405020304" pitchFamily="18" charset="0"/>
                        </a:rPr>
                        <a:t>What we are using</a:t>
                      </a:r>
                    </a:p>
                  </a:txBody>
                  <a:tcPr/>
                </a:tc>
                <a:tc>
                  <a:txBody>
                    <a:bodyPr/>
                    <a:lstStyle/>
                    <a:p>
                      <a:pPr algn="ctr"/>
                      <a:r>
                        <a:rPr lang="en-IN" sz="2200" b="1" dirty="0">
                          <a:latin typeface="Times New Roman" panose="02020603050405020304" pitchFamily="18" charset="0"/>
                          <a:cs typeface="Times New Roman" panose="02020603050405020304" pitchFamily="18" charset="0"/>
                        </a:rPr>
                        <a:t>Explanation</a:t>
                      </a:r>
                    </a:p>
                  </a:txBody>
                  <a:tcPr/>
                </a:tc>
                <a:extLst>
                  <a:ext uri="{0D108BD9-81ED-4DB2-BD59-A6C34878D82A}">
                    <a16:rowId xmlns:a16="http://schemas.microsoft.com/office/drawing/2014/main" val="1468458557"/>
                  </a:ext>
                </a:extLst>
              </a:tr>
              <a:tr h="464402">
                <a:tc>
                  <a:txBody>
                    <a:bodyPr/>
                    <a:lstStyle/>
                    <a:p>
                      <a:pPr marL="0" indent="0">
                        <a:buNone/>
                      </a:pPr>
                      <a:r>
                        <a:rPr lang="en-US" sz="2000" dirty="0">
                          <a:latin typeface="Times New Roman" panose="02020603050405020304" pitchFamily="18" charset="0"/>
                          <a:cs typeface="Times New Roman" panose="02020603050405020304" pitchFamily="18" charset="0"/>
                        </a:rPr>
                        <a:t>Limited specialization in code reviews.</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buNone/>
                      </a:pPr>
                      <a:r>
                        <a:rPr lang="en-US" sz="2000" b="0" dirty="0">
                          <a:latin typeface="Times New Roman" panose="02020603050405020304" pitchFamily="18" charset="0"/>
                          <a:cs typeface="Times New Roman" panose="02020603050405020304" pitchFamily="18" charset="0"/>
                        </a:rPr>
                        <a:t>Multi-Agent Design with specialized agents.</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2000" dirty="0">
                          <a:latin typeface="Times New Roman" panose="02020603050405020304" pitchFamily="18" charset="0"/>
                          <a:cs typeface="Times New Roman" panose="02020603050405020304" pitchFamily="18" charset="0"/>
                        </a:rPr>
                        <a:t>Each agent (Syntax, Security, Performance, Best Practices) focuses on a specific task, ensuring thorough analysis.</a:t>
                      </a:r>
                      <a:endParaRPr lang="en-US"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1373210"/>
                  </a:ext>
                </a:extLst>
              </a:tr>
              <a:tr h="464402">
                <a:tc>
                  <a:txBody>
                    <a:bodyPr/>
                    <a:lstStyle/>
                    <a:p>
                      <a:pPr marL="0" indent="0">
                        <a:buNone/>
                      </a:pPr>
                      <a:r>
                        <a:rPr lang="en-US" sz="2000" dirty="0">
                          <a:latin typeface="Times New Roman" panose="02020603050405020304" pitchFamily="18" charset="0"/>
                          <a:cs typeface="Times New Roman" panose="02020603050405020304" pitchFamily="18" charset="0"/>
                        </a:rPr>
                        <a:t>Lack of actionable AI feedback.</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buNone/>
                      </a:pPr>
                      <a:r>
                        <a:rPr lang="en-US" sz="2000" b="0" dirty="0">
                          <a:latin typeface="Times New Roman" panose="02020603050405020304" pitchFamily="18" charset="0"/>
                          <a:cs typeface="Times New Roman" panose="02020603050405020304" pitchFamily="18" charset="0"/>
                        </a:rPr>
                        <a:t>Generative AI (GPT-4) with tailored prompts.</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2000" dirty="0">
                          <a:latin typeface="Times New Roman" panose="02020603050405020304" pitchFamily="18" charset="0"/>
                          <a:cs typeface="Times New Roman" panose="02020603050405020304" pitchFamily="18" charset="0"/>
                        </a:rPr>
                        <a:t>GPT-4 provides context-aware, detailed suggestions tailored to each aspect of the review.</a:t>
                      </a:r>
                      <a:endParaRPr lang="en-US"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00353267"/>
                  </a:ext>
                </a:extLst>
              </a:tr>
              <a:tr h="464402">
                <a:tc>
                  <a:txBody>
                    <a:bodyPr/>
                    <a:lstStyle/>
                    <a:p>
                      <a:pPr marL="0" indent="0">
                        <a:buNone/>
                      </a:pPr>
                      <a:r>
                        <a:rPr lang="en-US" sz="2000" dirty="0">
                          <a:latin typeface="Times New Roman" panose="02020603050405020304" pitchFamily="18" charset="0"/>
                          <a:cs typeface="Times New Roman" panose="02020603050405020304" pitchFamily="18" charset="0"/>
                        </a:rPr>
                        <a:t>Focus on single aspects of code quality.</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buNone/>
                      </a:pPr>
                      <a:r>
                        <a:rPr lang="en-IN" sz="2000" dirty="0">
                          <a:latin typeface="Times New Roman" panose="02020603050405020304" pitchFamily="18" charset="0"/>
                          <a:cs typeface="Times New Roman" panose="02020603050405020304" pitchFamily="18" charset="0"/>
                        </a:rPr>
                        <a:t>Layered Review Approach.</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2000" dirty="0">
                          <a:latin typeface="Times New Roman" panose="02020603050405020304" pitchFamily="18" charset="0"/>
                          <a:cs typeface="Times New Roman" panose="02020603050405020304" pitchFamily="18" charset="0"/>
                        </a:rPr>
                        <a:t>Combines syntax checking, security analysis, performance optimization, and best practices enforcement for holistic feedback.</a:t>
                      </a:r>
                      <a:endParaRPr lang="en-US"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2879412"/>
                  </a:ext>
                </a:extLst>
              </a:tr>
              <a:tr h="464402">
                <a:tc>
                  <a:txBody>
                    <a:bodyPr/>
                    <a:lstStyle/>
                    <a:p>
                      <a:pPr marL="0" indent="0">
                        <a:buNone/>
                      </a:pPr>
                      <a:r>
                        <a:rPr lang="en-IN" sz="2000" dirty="0">
                          <a:latin typeface="Times New Roman" panose="02020603050405020304" pitchFamily="18" charset="0"/>
                          <a:cs typeface="Times New Roman" panose="02020603050405020304" pitchFamily="18" charset="0"/>
                        </a:rPr>
                        <a:t>Inconsistent or redundant results.</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buNone/>
                      </a:pPr>
                      <a:r>
                        <a:rPr lang="en-IN" sz="2000" dirty="0">
                          <a:latin typeface="Times New Roman" panose="02020603050405020304" pitchFamily="18" charset="0"/>
                          <a:cs typeface="Times New Roman" panose="02020603050405020304" pitchFamily="18" charset="0"/>
                        </a:rPr>
                        <a:t>Agent Orchestration Layer.</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2000" dirty="0">
                          <a:latin typeface="Times New Roman" panose="02020603050405020304" pitchFamily="18" charset="0"/>
                          <a:cs typeface="Times New Roman" panose="02020603050405020304" pitchFamily="18" charset="0"/>
                        </a:rPr>
                        <a:t>Combines and reconciles results from multiple agents into a unified, consistent response.</a:t>
                      </a:r>
                      <a:endParaRPr lang="en-US"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7053279"/>
                  </a:ext>
                </a:extLst>
              </a:tr>
              <a:tr h="464402">
                <a:tc>
                  <a:txBody>
                    <a:bodyPr/>
                    <a:lstStyle/>
                    <a:p>
                      <a:pPr marL="0" indent="0">
                        <a:buNone/>
                      </a:pPr>
                      <a:r>
                        <a:rPr lang="en-IN" sz="2000" dirty="0">
                          <a:latin typeface="Times New Roman" panose="02020603050405020304" pitchFamily="18" charset="0"/>
                          <a:cs typeface="Times New Roman" panose="02020603050405020304" pitchFamily="18" charset="0"/>
                        </a:rPr>
                        <a:t>Complex deployment</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buNone/>
                      </a:pPr>
                      <a:r>
                        <a:rPr lang="en-IN" sz="2000" dirty="0">
                          <a:latin typeface="Times New Roman" panose="02020603050405020304" pitchFamily="18" charset="0"/>
                          <a:cs typeface="Times New Roman" panose="02020603050405020304" pitchFamily="18" charset="0"/>
                        </a:rPr>
                        <a:t>Containerization with Docker</a:t>
                      </a:r>
                      <a:endParaRPr lang="en-IN" sz="2000" b="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2000" dirty="0">
                          <a:latin typeface="Times New Roman" panose="02020603050405020304" pitchFamily="18" charset="0"/>
                          <a:cs typeface="Times New Roman" panose="02020603050405020304" pitchFamily="18" charset="0"/>
                        </a:rPr>
                        <a:t>Provides a simple, portable setup for deployment across environments.</a:t>
                      </a:r>
                      <a:endParaRPr lang="en-US"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79582979"/>
                  </a:ext>
                </a:extLst>
              </a:tr>
            </a:tbl>
          </a:graphicData>
        </a:graphic>
      </p:graphicFrame>
    </p:spTree>
    <p:extLst>
      <p:ext uri="{BB962C8B-B14F-4D97-AF65-F5344CB8AC3E}">
        <p14:creationId xmlns:p14="http://schemas.microsoft.com/office/powerpoint/2010/main" val="2446930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636343-80F2-67C6-1B75-FDBFDD7D6F03}"/>
              </a:ext>
            </a:extLst>
          </p:cNvPr>
          <p:cNvPicPr>
            <a:picLocks noChangeAspect="1"/>
          </p:cNvPicPr>
          <p:nvPr/>
        </p:nvPicPr>
        <p:blipFill>
          <a:blip r:embed="rId2"/>
          <a:srcRect b="9015"/>
          <a:stretch/>
        </p:blipFill>
        <p:spPr>
          <a:xfrm>
            <a:off x="239764" y="302359"/>
            <a:ext cx="6520032" cy="5683348"/>
          </a:xfrm>
          <a:prstGeom prst="rect">
            <a:avLst/>
          </a:prstGeom>
        </p:spPr>
      </p:pic>
      <p:sp>
        <p:nvSpPr>
          <p:cNvPr id="4" name="TextBox 3">
            <a:extLst>
              <a:ext uri="{FF2B5EF4-FFF2-40B4-BE49-F238E27FC236}">
                <a16:creationId xmlns:a16="http://schemas.microsoft.com/office/drawing/2014/main" id="{AB43ADE7-1BAC-F549-6F8B-E810A82076F2}"/>
              </a:ext>
            </a:extLst>
          </p:cNvPr>
          <p:cNvSpPr txBox="1"/>
          <p:nvPr/>
        </p:nvSpPr>
        <p:spPr>
          <a:xfrm>
            <a:off x="7000409" y="302359"/>
            <a:ext cx="4951827" cy="655564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This diagram represents a modular software architecture with several interconnected layers:</a:t>
            </a:r>
          </a:p>
          <a:p>
            <a:pPr algn="just">
              <a:buFont typeface="+mj-lt"/>
              <a:buAutoNum type="arabicPeriod"/>
            </a:pPr>
            <a:r>
              <a:rPr lang="en-US" sz="2000" b="1" dirty="0">
                <a:latin typeface="Times New Roman" panose="02020603050405020304" pitchFamily="18" charset="0"/>
                <a:cs typeface="Times New Roman" panose="02020603050405020304" pitchFamily="18" charset="0"/>
              </a:rPr>
              <a:t>User Interaction Layer</a:t>
            </a:r>
            <a:r>
              <a:rPr lang="en-US" sz="2000" dirty="0">
                <a:latin typeface="Times New Roman" panose="02020603050405020304" pitchFamily="18" charset="0"/>
                <a:cs typeface="Times New Roman" panose="02020603050405020304" pitchFamily="18" charset="0"/>
              </a:rPr>
              <a:t>: Interfaces like a web app, API, or IDE plugin let users interact with the system.</a:t>
            </a:r>
          </a:p>
          <a:p>
            <a:pPr algn="just">
              <a:buFont typeface="+mj-lt"/>
              <a:buAutoNum type="arabicPeriod"/>
            </a:pPr>
            <a:r>
              <a:rPr lang="en-US" sz="2000" b="1" dirty="0">
                <a:latin typeface="Times New Roman" panose="02020603050405020304" pitchFamily="18" charset="0"/>
                <a:cs typeface="Times New Roman" panose="02020603050405020304" pitchFamily="18" charset="0"/>
              </a:rPr>
              <a:t>Agent Orchestration Layer</a:t>
            </a:r>
            <a:r>
              <a:rPr lang="en-US" sz="2000" dirty="0">
                <a:latin typeface="Times New Roman" panose="02020603050405020304" pitchFamily="18" charset="0"/>
                <a:cs typeface="Times New Roman" panose="02020603050405020304" pitchFamily="18" charset="0"/>
              </a:rPr>
              <a:t>: Manages tasks using an Orchestrator and Task Queue. It assigns work to specialized agents.</a:t>
            </a:r>
          </a:p>
          <a:p>
            <a:pPr algn="just">
              <a:buFont typeface="+mj-lt"/>
              <a:buAutoNum type="arabicPeriod"/>
            </a:pPr>
            <a:r>
              <a:rPr lang="en-US" sz="2000" b="1" dirty="0">
                <a:latin typeface="Times New Roman" panose="02020603050405020304" pitchFamily="18" charset="0"/>
                <a:cs typeface="Times New Roman" panose="02020603050405020304" pitchFamily="18" charset="0"/>
              </a:rPr>
              <a:t>AI Agents Layer</a:t>
            </a:r>
            <a:r>
              <a:rPr lang="en-US" sz="2000" dirty="0">
                <a:latin typeface="Times New Roman" panose="02020603050405020304" pitchFamily="18" charset="0"/>
                <a:cs typeface="Times New Roman" panose="02020603050405020304" pitchFamily="18" charset="0"/>
              </a:rPr>
              <a:t>: Specialized agents (e.g., Syntax, Security, Performance, Best Practices) analyze and optimize tasks.</a:t>
            </a:r>
          </a:p>
          <a:p>
            <a:pPr algn="just">
              <a:buFont typeface="+mj-lt"/>
              <a:buAutoNum type="arabicPeriod"/>
            </a:pPr>
            <a:r>
              <a:rPr lang="en-US" sz="2000" b="1" dirty="0">
                <a:latin typeface="Times New Roman" panose="02020603050405020304" pitchFamily="18" charset="0"/>
                <a:cs typeface="Times New Roman" panose="02020603050405020304" pitchFamily="18" charset="0"/>
              </a:rPr>
              <a:t>Data and Communication Layer</a:t>
            </a:r>
            <a:r>
              <a:rPr lang="en-US" sz="2000" dirty="0">
                <a:latin typeface="Times New Roman" panose="02020603050405020304" pitchFamily="18" charset="0"/>
                <a:cs typeface="Times New Roman" panose="02020603050405020304" pitchFamily="18" charset="0"/>
              </a:rPr>
              <a:t>: Handles data flow using a Message Broker, </a:t>
            </a:r>
            <a:r>
              <a:rPr lang="en-US" sz="2000" dirty="0" err="1">
                <a:latin typeface="Times New Roman" panose="02020603050405020304" pitchFamily="18" charset="0"/>
                <a:cs typeface="Times New Roman" panose="02020603050405020304" pitchFamily="18" charset="0"/>
              </a:rPr>
              <a:t>PubSub</a:t>
            </a:r>
            <a:r>
              <a:rPr lang="en-US" sz="2000" dirty="0">
                <a:latin typeface="Times New Roman" panose="02020603050405020304" pitchFamily="18" charset="0"/>
                <a:cs typeface="Times New Roman" panose="02020603050405020304" pitchFamily="18" charset="0"/>
              </a:rPr>
              <a:t> System, and a Database for storing and exchanging information.</a:t>
            </a:r>
          </a:p>
          <a:p>
            <a:pPr algn="just">
              <a:buFont typeface="+mj-lt"/>
              <a:buAutoNum type="arabicPeriod"/>
            </a:pPr>
            <a:r>
              <a:rPr lang="en-US" sz="2000" b="1" dirty="0">
                <a:latin typeface="Times New Roman" panose="02020603050405020304" pitchFamily="18" charset="0"/>
                <a:cs typeface="Times New Roman" panose="02020603050405020304" pitchFamily="18" charset="0"/>
              </a:rPr>
              <a:t>Execution and Deployment Layer</a:t>
            </a:r>
            <a:r>
              <a:rPr lang="en-US" sz="2000" dirty="0">
                <a:latin typeface="Times New Roman" panose="02020603050405020304" pitchFamily="18" charset="0"/>
                <a:cs typeface="Times New Roman" panose="02020603050405020304" pitchFamily="18" charset="0"/>
              </a:rPr>
              <a:t>: Deploys the system using </a:t>
            </a:r>
            <a:r>
              <a:rPr lang="en-US" sz="2000" dirty="0" err="1">
                <a:latin typeface="Times New Roman" panose="02020603050405020304" pitchFamily="18" charset="0"/>
                <a:cs typeface="Times New Roman" panose="02020603050405020304" pitchFamily="18" charset="0"/>
              </a:rPr>
              <a:t>Dockerized</a:t>
            </a:r>
            <a:r>
              <a:rPr lang="en-US" sz="2000" dirty="0">
                <a:latin typeface="Times New Roman" panose="02020603050405020304" pitchFamily="18" charset="0"/>
                <a:cs typeface="Times New Roman" panose="02020603050405020304" pitchFamily="18" charset="0"/>
              </a:rPr>
              <a:t> Microservices, Kubernetes for scaling, and integrates with the cloud.</a:t>
            </a:r>
          </a:p>
          <a:p>
            <a:pPr algn="just"/>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8882108-9698-4998-D437-C6CD0C77346E}"/>
              </a:ext>
            </a:extLst>
          </p:cNvPr>
          <p:cNvSpPr txBox="1"/>
          <p:nvPr/>
        </p:nvSpPr>
        <p:spPr>
          <a:xfrm>
            <a:off x="574304" y="6120266"/>
            <a:ext cx="585095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Fig-6: Architecture of code review system using </a:t>
            </a:r>
            <a:r>
              <a:rPr lang="en-US" sz="2000" dirty="0" err="1">
                <a:latin typeface="Times New Roman" panose="02020603050405020304" pitchFamily="18" charset="0"/>
                <a:cs typeface="Times New Roman" panose="02020603050405020304" pitchFamily="18" charset="0"/>
              </a:rPr>
              <a:t>GenAI</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0271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antUML Diagram">
            <a:extLst>
              <a:ext uri="{FF2B5EF4-FFF2-40B4-BE49-F238E27FC236}">
                <a16:creationId xmlns:a16="http://schemas.microsoft.com/office/drawing/2014/main" id="{2C28F268-5A5A-AC53-2D44-9848C27024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552" y="1354308"/>
            <a:ext cx="10159292" cy="3924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8063E79-395A-7278-4554-B16DB2B50A50}"/>
              </a:ext>
            </a:extLst>
          </p:cNvPr>
          <p:cNvSpPr txBox="1"/>
          <p:nvPr/>
        </p:nvSpPr>
        <p:spPr>
          <a:xfrm>
            <a:off x="4009292" y="520504"/>
            <a:ext cx="3516923"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USE CASE DIAGRAM</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98AA4FD-D839-45DD-DE0A-6DC28DF1EBCF}"/>
              </a:ext>
            </a:extLst>
          </p:cNvPr>
          <p:cNvSpPr txBox="1"/>
          <p:nvPr/>
        </p:nvSpPr>
        <p:spPr>
          <a:xfrm>
            <a:off x="2828816" y="5576460"/>
            <a:ext cx="6808763"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Fig-7: Use case diagram of code review system using </a:t>
            </a:r>
            <a:r>
              <a:rPr lang="en-US" sz="2000" dirty="0" err="1">
                <a:latin typeface="Times New Roman" panose="02020603050405020304" pitchFamily="18" charset="0"/>
                <a:cs typeface="Times New Roman" panose="02020603050405020304" pitchFamily="18" charset="0"/>
              </a:rPr>
              <a:t>GenAI</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6559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PlantUML Diagram">
            <a:extLst>
              <a:ext uri="{FF2B5EF4-FFF2-40B4-BE49-F238E27FC236}">
                <a16:creationId xmlns:a16="http://schemas.microsoft.com/office/drawing/2014/main" id="{283D527E-7FCF-DBB6-4B05-8E29FA084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0269" y="784274"/>
            <a:ext cx="9031460" cy="528945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A1D4401-96B9-64D5-A978-DD106FEEB8DF}"/>
              </a:ext>
            </a:extLst>
          </p:cNvPr>
          <p:cNvSpPr txBox="1"/>
          <p:nvPr/>
        </p:nvSpPr>
        <p:spPr>
          <a:xfrm>
            <a:off x="4337538" y="172665"/>
            <a:ext cx="3516923"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SEQUENCE DIAGRAM</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8C09CAB-C955-1F4A-A80B-0618AE441963}"/>
              </a:ext>
            </a:extLst>
          </p:cNvPr>
          <p:cNvSpPr txBox="1"/>
          <p:nvPr/>
        </p:nvSpPr>
        <p:spPr>
          <a:xfrm>
            <a:off x="2691617" y="6223670"/>
            <a:ext cx="6808763"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Fig-8: Sequence diagram of code review system using </a:t>
            </a:r>
            <a:r>
              <a:rPr lang="en-US" sz="2000" dirty="0" err="1">
                <a:latin typeface="Times New Roman" panose="02020603050405020304" pitchFamily="18" charset="0"/>
                <a:cs typeface="Times New Roman" panose="02020603050405020304" pitchFamily="18" charset="0"/>
              </a:rPr>
              <a:t>GenAI</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2231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descr="PlantUML Diagram">
            <a:extLst>
              <a:ext uri="{FF2B5EF4-FFF2-40B4-BE49-F238E27FC236}">
                <a16:creationId xmlns:a16="http://schemas.microsoft.com/office/drawing/2014/main" id="{0F1E1C68-125C-78C4-1A2B-841BCB26A2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30126"/>
            <a:ext cx="3690573" cy="65977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0063527-EF6E-94CC-CFFC-C1B71DA180F3}"/>
              </a:ext>
            </a:extLst>
          </p:cNvPr>
          <p:cNvSpPr txBox="1"/>
          <p:nvPr/>
        </p:nvSpPr>
        <p:spPr>
          <a:xfrm>
            <a:off x="1430139" y="1832653"/>
            <a:ext cx="3516923"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ACTIVITY DIAGRAM</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BA0D543-DA7E-5894-F501-D0FE79F7268E}"/>
              </a:ext>
            </a:extLst>
          </p:cNvPr>
          <p:cNvSpPr txBox="1"/>
          <p:nvPr/>
        </p:nvSpPr>
        <p:spPr>
          <a:xfrm>
            <a:off x="1575432" y="2921168"/>
            <a:ext cx="3226339"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Fig-9: Activity diagram of code review system using </a:t>
            </a:r>
            <a:r>
              <a:rPr lang="en-US" sz="2000" dirty="0" err="1">
                <a:latin typeface="Times New Roman" panose="02020603050405020304" pitchFamily="18" charset="0"/>
                <a:cs typeface="Times New Roman" panose="02020603050405020304" pitchFamily="18" charset="0"/>
              </a:rPr>
              <a:t>GenAI</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6337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8A601C-82F2-A409-8864-965245F248D2}"/>
              </a:ext>
            </a:extLst>
          </p:cNvPr>
          <p:cNvSpPr txBox="1"/>
          <p:nvPr/>
        </p:nvSpPr>
        <p:spPr>
          <a:xfrm>
            <a:off x="2035712" y="2010568"/>
            <a:ext cx="8120576" cy="3477875"/>
          </a:xfrm>
          <a:prstGeom prst="rect">
            <a:avLst/>
          </a:prstGeom>
          <a:noFill/>
        </p:spPr>
        <p:txBody>
          <a:bodyPr wrap="square">
            <a:spAutoFit/>
          </a:bodyPr>
          <a:lstStyle/>
          <a:p>
            <a:pPr algn="just"/>
            <a:r>
              <a:rPr lang="en-US" sz="2200" dirty="0">
                <a:latin typeface="Times New Roman" panose="02020603050405020304" pitchFamily="18" charset="0"/>
                <a:cs typeface="Times New Roman" panose="02020603050405020304" pitchFamily="18" charset="0"/>
              </a:rPr>
              <a:t>The AI Code Review System revolutionizes the code review process by combining the power of Generative AI with task orchestration and real-time feedback. By leveraging specialized AI agents for syntax, security, performance, and best practices, it provides developers with actionable, consolidated, and context-aware insights. The system’s scalable and integrated architecture ensures adaptability to evolving standards, making it an efficient and intelligent tool for improving code quality. This approach addresses the limitations of traditional systems, offering a seamless and future-ready solution for modern software development.</a:t>
            </a:r>
            <a:endParaRPr lang="en-IN" sz="2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897101E-E765-8783-045D-124EC8CFBF21}"/>
              </a:ext>
            </a:extLst>
          </p:cNvPr>
          <p:cNvSpPr txBox="1"/>
          <p:nvPr/>
        </p:nvSpPr>
        <p:spPr>
          <a:xfrm>
            <a:off x="4543866" y="858129"/>
            <a:ext cx="2700996" cy="523220"/>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Conclusion</a:t>
            </a:r>
            <a:endParaRPr lang="en-IN" sz="24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765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4CCBDD-9B1F-A8F6-631D-34FE8AC77CE6}"/>
              </a:ext>
            </a:extLst>
          </p:cNvPr>
          <p:cNvSpPr txBox="1"/>
          <p:nvPr/>
        </p:nvSpPr>
        <p:spPr>
          <a:xfrm>
            <a:off x="3791242" y="2688550"/>
            <a:ext cx="4466493" cy="923330"/>
          </a:xfrm>
          <a:prstGeom prst="rect">
            <a:avLst/>
          </a:prstGeom>
          <a:noFill/>
        </p:spPr>
        <p:txBody>
          <a:bodyPr wrap="square" rtlCol="0">
            <a:spAutoFit/>
          </a:bodyPr>
          <a:lstStyle/>
          <a:p>
            <a:r>
              <a:rPr lang="en-US" sz="5400" b="1" dirty="0">
                <a:solidFill>
                  <a:schemeClr val="accent1">
                    <a:lumMod val="50000"/>
                  </a:schemeClr>
                </a:solidFill>
                <a:latin typeface="Algerian" panose="04020705040A02060702" pitchFamily="82" charset="0"/>
                <a:cs typeface="Times New Roman" panose="02020603050405020304" pitchFamily="18" charset="0"/>
              </a:rPr>
              <a:t>THANK YOU</a:t>
            </a:r>
            <a:endParaRPr lang="en-IN" sz="5400" b="1" dirty="0">
              <a:solidFill>
                <a:schemeClr val="accent1">
                  <a:lumMod val="50000"/>
                </a:schemeClr>
              </a:solidFill>
              <a:latin typeface="Algerian" panose="04020705040A02060702" pitchFamily="82" charset="0"/>
              <a:cs typeface="Times New Roman" panose="02020603050405020304" pitchFamily="18" charset="0"/>
            </a:endParaRPr>
          </a:p>
        </p:txBody>
      </p:sp>
    </p:spTree>
    <p:extLst>
      <p:ext uri="{BB962C8B-B14F-4D97-AF65-F5344CB8AC3E}">
        <p14:creationId xmlns:p14="http://schemas.microsoft.com/office/powerpoint/2010/main" val="2570242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526</TotalTime>
  <Words>1608</Words>
  <Application>Microsoft Office PowerPoint</Application>
  <PresentationFormat>Widescreen</PresentationFormat>
  <Paragraphs>158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Algerian</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pravalika hanumantu</dc:creator>
  <cp:lastModifiedBy>pravalika hanumantu</cp:lastModifiedBy>
  <cp:revision>4</cp:revision>
  <dcterms:created xsi:type="dcterms:W3CDTF">2024-12-23T13:36:03Z</dcterms:created>
  <dcterms:modified xsi:type="dcterms:W3CDTF">2024-12-26T15:44:14Z</dcterms:modified>
</cp:coreProperties>
</file>